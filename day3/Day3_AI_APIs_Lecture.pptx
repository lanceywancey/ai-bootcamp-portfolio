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8" autoAdjust="0"/>
    <p:restoredTop sz="95679" autoAdjust="0"/>
  </p:normalViewPr>
  <p:slideViewPr>
    <p:cSldViewPr snapToGrid="0" snapToObjects="1">
      <p:cViewPr varScale="1">
        <p:scale>
          <a:sx n="97" d="100"/>
          <a:sy n="97" d="100"/>
        </p:scale>
        <p:origin x="885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00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of a restaurant."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"YOU are the customer — that is your Python code, or your app."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MENU is the API documentation — it tells you exactly what you can order and how to order it."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WAITER is the API itself — it takes your order and brings back your food."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KITCHEN is the server — it does the actual hard work. You never go in there. You never see it."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"YOUR FOOD arriving at the table is the API response — the data or AI answer that comes back to your code."</a:t>
            </a:r>
          </a:p>
          <a:p>
            <a:br>
              <a:rPr lang="en-US" dirty="0"/>
            </a:b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insight here is ABSTRACTION. You do not need to know how to cook. You just use the menu. That is what makes APIs so powerful — anyone can use powerful services without knowing how they work internally.</a:t>
            </a:r>
          </a:p>
          <a:p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abstraction actually means:</a:t>
            </a:r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Abstraction is one of the four pillars of computer science (along with encapsulation, inheritance, polymorphism).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means hiding complexity behind a simple interface. The user of an API does not need to know whether the AI model is running on 10,000 GPUs — they just send a message and get a reply.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why you can build an AI app in 20 lines of Python even though GPT-4o has 1.7 trillion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app you use every day runs on dozens of APIs working together at the same time."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you open Grab and request a ride — your phone calls a Mapping API to draw the route, a Driver-matching API to find someone nearby, and a Payment API all at the same moment. You see one smooth experience but behind it are three separate API calls happening in milliseconds."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you tap Sign in with Google on any website — the website is calling Google's Authentication API. It sends your login details to Google, Google confirms your identity, and sends back a token that says 'yes, this person is real'. Your password never goes to the website at all — only Google sees it.“</a:t>
            </a:r>
            <a:b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ChatGPT — the thing you use in your browser — is just an API with a pretty website on top."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"When you type a message to ChatGPT, the website makes an API call to OpenAI's servers. The AI model replies. The website shows you the reply. That is it."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"TODAY — in about 90 minutes from now — you will make that EXACT SAME API call. But directly from Python, without the website. Which means you can build your OWN version of ChatGPT. Or make it a cooking bot. Or a customer service agent. Or anything you want."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what today is about."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two types of APIs and they behave very differently.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regular API — like a weather API, a maps API, a payments API — is like a vending machine. You press B3 and you ALWAYS get a Coke. Same input, same output, every single time. It reads from a database."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 LLM API — like GPT or Claude — is like asking a very smart friend. They give you a great answer most of the time. But ask them the exact same question twice and they might phrase it slightly differently each time. And occasionally — rarely but it happens — they might confidently say something that is just wrong."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is called HALLUCINATION. The AI generates text that sounds completely confident and authoritative but is factually incorrect. ALWAYS verify important facts from an LLM with a reliable source.</a:t>
            </a:r>
          </a:p>
          <a:p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especially important for: medical information, legal advice, financial decisions.</a:t>
            </a:r>
          </a:p>
          <a:p>
            <a:endParaRPr lang="en-SG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 I want to show you the language that APIs speak. Every piece of data that goes to an API, and every response that comes back, is in a format called JSON."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"JSON stands for JavaScript Object Notation — but do not worry about the name. Just know: it looks almost exactly like a Python dictionary. The main differences are: use double quotes always, no trailing commas, and true/false/null in lowercase."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functions:</a:t>
            </a:r>
            <a:b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to JSON — dumps. 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to Python — loads. That is it..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something that surprises everyone. Large language models do not process words. They process TOKENS.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token is a chunk of text — usually a short word or part of a longer word. The rough rule of thumb is: 1 token ≈ 0.75 English words. Or going the other way: 1 word ≈ 1.33 tokens."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does this matter? Because EVERYTHING in LLM APIs is measured in tokens. The cost you pay. The speed of the response. The context window limit — how much the model can 'see' at once. All of it is in tokens, not words."</a:t>
            </a:r>
          </a:p>
          <a:p>
            <a:br>
              <a:rPr lang="en-US" dirty="0"/>
            </a:b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"Let me show you something surprising. The word 'hello' — 1 token. Makes sense. The word 'running' — also 1 token. But the word 'ChatGPT'? Three tokens: 'Chat', 'G', and 'PT'. The </a:t>
            </a:r>
            <a:r>
              <a:rPr lang="en-SG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tokeniser</a:t>
            </a: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splits it because it has never seen that compound word often enough in training to give it its own token.“</a:t>
            </a:r>
            <a:b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TOKENS MATTER — 3 practical impacts on your code: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COST: Providers charge per token. More tokens = higher cost.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GPT-4o mini: ~$0.15 per million input tokens = $0.00015 per 1,000 tokens.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A short question (20 tokens) costs $0.000003. Basically free!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SPEED: Fewer tokens → faster response. Long prompts take longer.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CONTEXT WINDOW: Max tokens per call (input + output combined).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GPT-4o mini: 128,000 tokens | Claude Sonnet 4: 200,000 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let's talk about HOW you send a question to the AI. You might expect: just send a text string. But that is not how it works."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"LLM APIs take an ARRAY — a Python list — of messages. Each message has two fields: a role and content."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ROLE tells the AI what kind of message this is."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'system' — this is the AI's job description. Its rules. Its personality. It applies to EVERY reply."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'user' — this is your question. What you are asking."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 'assistant' — this is the AI's PREVIOUS replies. You add these yourself to simulate memory."</a:t>
            </a:r>
          </a:p>
          <a:p>
            <a:endParaRPr lang="en-US" dirty="0"/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"Here is the most important thing I will say all day:"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"LLMs are COMPLETELY STATELESS."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"Every single API call starts with ZERO memory. The model has no idea what you asked 5 seconds ago."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messages array IS the only memory. If you include past messages — the AI can 'remember'. If you do not — it forgets everything."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last concept before we get our API keys: temperature."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"Temperature is a dial that controls how creative — or how deterministic — the AI's responses are."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"At temperature 0.0, the AI always picks the single most likely next word. It is deterministic — same question always gives the same answer. Use this for: maths problems, coding, factual questions, structured JSON output."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"At temperature 0.7, the AI picks from a range of likely words with some randomness. This gives natural, varied responses. Use this for: general chat, explanations, tutoring. This is your default."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SG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"At temperature 1.5 and above, the AI's choices become much more random. It might pick unusual words. Use this for: creative writing, brainstorming, comedy. But it can also become incoherent."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client.chat.completions.create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is a method used in the OpenAI API Python SDK to send a prompt to a model and get a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9144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9144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9144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9144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91440" y="393192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91440" y="470001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9144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9144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91440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91440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440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173736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173736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73736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3736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73736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736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256032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256032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6032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6032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6032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56032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Shape 36"/>
          <p:cNvSpPr/>
          <p:nvPr/>
        </p:nvSpPr>
        <p:spPr>
          <a:xfrm>
            <a:off x="338328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Shape 37"/>
          <p:cNvSpPr/>
          <p:nvPr/>
        </p:nvSpPr>
        <p:spPr>
          <a:xfrm>
            <a:off x="338328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38328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38328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38328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38328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38328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Shape 45"/>
          <p:cNvSpPr/>
          <p:nvPr/>
        </p:nvSpPr>
        <p:spPr>
          <a:xfrm>
            <a:off x="420624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Shape 46"/>
          <p:cNvSpPr/>
          <p:nvPr/>
        </p:nvSpPr>
        <p:spPr>
          <a:xfrm>
            <a:off x="420624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20624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20624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20624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20624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20624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6" name="Shape 54"/>
          <p:cNvSpPr/>
          <p:nvPr/>
        </p:nvSpPr>
        <p:spPr>
          <a:xfrm>
            <a:off x="502920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Shape 55"/>
          <p:cNvSpPr/>
          <p:nvPr/>
        </p:nvSpPr>
        <p:spPr>
          <a:xfrm>
            <a:off x="502920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02920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02920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02920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02920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02920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Shape 63"/>
          <p:cNvSpPr/>
          <p:nvPr/>
        </p:nvSpPr>
        <p:spPr>
          <a:xfrm>
            <a:off x="585216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Shape 64"/>
          <p:cNvSpPr/>
          <p:nvPr/>
        </p:nvSpPr>
        <p:spPr>
          <a:xfrm>
            <a:off x="585216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85216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85216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85216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85216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85216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Shape 72"/>
          <p:cNvSpPr/>
          <p:nvPr/>
        </p:nvSpPr>
        <p:spPr>
          <a:xfrm>
            <a:off x="667512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Shape 73"/>
          <p:cNvSpPr/>
          <p:nvPr/>
        </p:nvSpPr>
        <p:spPr>
          <a:xfrm>
            <a:off x="667512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667512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67512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667512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67512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667512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3" name="Shape 81"/>
          <p:cNvSpPr/>
          <p:nvPr/>
        </p:nvSpPr>
        <p:spPr>
          <a:xfrm>
            <a:off x="749808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4" name="Shape 82"/>
          <p:cNvSpPr/>
          <p:nvPr/>
        </p:nvSpPr>
        <p:spPr>
          <a:xfrm>
            <a:off x="749808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49808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749808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749808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49808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749808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2" name="Shape 90"/>
          <p:cNvSpPr/>
          <p:nvPr/>
        </p:nvSpPr>
        <p:spPr>
          <a:xfrm>
            <a:off x="832104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3" name="Shape 91"/>
          <p:cNvSpPr/>
          <p:nvPr/>
        </p:nvSpPr>
        <p:spPr>
          <a:xfrm>
            <a:off x="832104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832104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832104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832104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832104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832104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1" name="Shape 99"/>
          <p:cNvSpPr/>
          <p:nvPr/>
        </p:nvSpPr>
        <p:spPr>
          <a:xfrm>
            <a:off x="914400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2" name="Shape 100"/>
          <p:cNvSpPr/>
          <p:nvPr/>
        </p:nvSpPr>
        <p:spPr>
          <a:xfrm>
            <a:off x="914400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914400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914400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914400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914400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914400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0" name="Shape 108"/>
          <p:cNvSpPr/>
          <p:nvPr/>
        </p:nvSpPr>
        <p:spPr>
          <a:xfrm>
            <a:off x="996696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1" name="Shape 109"/>
          <p:cNvSpPr/>
          <p:nvPr/>
        </p:nvSpPr>
        <p:spPr>
          <a:xfrm>
            <a:off x="996696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996696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996696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996696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996696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996696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9" name="Shape 117"/>
          <p:cNvSpPr/>
          <p:nvPr/>
        </p:nvSpPr>
        <p:spPr>
          <a:xfrm>
            <a:off x="1078992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0" name="Shape 118"/>
          <p:cNvSpPr/>
          <p:nvPr/>
        </p:nvSpPr>
        <p:spPr>
          <a:xfrm>
            <a:off x="1078992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1078992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1078992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Shape 121"/>
          <p:cNvSpPr/>
          <p:nvPr/>
        </p:nvSpPr>
        <p:spPr>
          <a:xfrm>
            <a:off x="1078992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1078992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1078992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8" name="Shape 126"/>
          <p:cNvSpPr/>
          <p:nvPr/>
        </p:nvSpPr>
        <p:spPr>
          <a:xfrm>
            <a:off x="11612880" y="91440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9" name="Shape 127"/>
          <p:cNvSpPr/>
          <p:nvPr/>
        </p:nvSpPr>
        <p:spPr>
          <a:xfrm>
            <a:off x="11612880" y="859536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11612880" y="162763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11612880" y="239572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11612880" y="3163824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11612880" y="5468112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11612880" y="6236208"/>
            <a:ext cx="50292" cy="50292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7" name="Shape 13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9" name="Text 137"/>
          <p:cNvSpPr/>
          <p:nvPr/>
        </p:nvSpPr>
        <p:spPr>
          <a:xfrm>
            <a:off x="384048" y="3840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3  ·  MORNING LECTURE  ·  9:00 – 12:00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340297" y="1429439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Working with AI APIs</a:t>
            </a:r>
            <a:endParaRPr lang="en-US" sz="6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384048" y="3401568"/>
            <a:ext cx="59436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005840"/>
            <a:ext cx="2834640" cy="2834640"/>
          </a:xfrm>
          <a:prstGeom prst="rect">
            <a:avLst/>
          </a:prstGeom>
        </p:spPr>
      </p:pic>
      <p:sp>
        <p:nvSpPr>
          <p:cNvPr id="156" name="Text Placeholder 2">
            <a:extLst>
              <a:ext uri="{FF2B5EF4-FFF2-40B4-BE49-F238E27FC236}">
                <a16:creationId xmlns:a16="http://schemas.microsoft.com/office/drawing/2014/main" id="{830BBE4D-04F6-F1F0-BF83-6280BA1DE994}"/>
              </a:ext>
            </a:extLst>
          </p:cNvPr>
          <p:cNvSpPr txBox="1">
            <a:spLocks/>
          </p:cNvSpPr>
          <p:nvPr/>
        </p:nvSpPr>
        <p:spPr>
          <a:xfrm>
            <a:off x="247836" y="6352794"/>
            <a:ext cx="11944164" cy="50520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Priyanka Bhoyar</a:t>
            </a:r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40D51614-EA28-7DA5-9227-D109EE3D0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829" y="113812"/>
            <a:ext cx="2560320" cy="745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By End of Today, You Will Have Built This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657600" cy="5120640"/>
          </a:xfrm>
          <a:prstGeom prst="rect">
            <a:avLst/>
          </a:prstGeom>
          <a:solidFill>
            <a:srgbClr val="17305A"/>
          </a:solidFill>
          <a:ln w="2540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657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123444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💬  A Live AI Chatbot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8056" y="1920240"/>
            <a:ext cx="34015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 to GPT-4o mini. Responds to any question you type. Your own mini-ChatGPT built from scratch in Python.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" y="4681728"/>
            <a:ext cx="3401568" cy="530352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" y="468172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⏱  30 min to build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234440"/>
            <a:ext cx="3657600" cy="5120640"/>
          </a:xfrm>
          <a:prstGeom prst="rect">
            <a:avLst/>
          </a:prstGeom>
          <a:solidFill>
            <a:srgbClr val="17305A"/>
          </a:solidFill>
          <a:ln w="254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51960" y="1234440"/>
            <a:ext cx="36576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61688" y="123444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🎭  3 Bot Personalities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79976" y="1920240"/>
            <a:ext cx="34015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code — completely different bots. A helpful tutor, a comedy bot with [EXPLOSION] effects, a formal consultant.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79976" y="4681728"/>
            <a:ext cx="3401568" cy="53035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79976" y="468172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⏱  15 min to build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3657600" cy="5120640"/>
          </a:xfrm>
          <a:prstGeom prst="rect">
            <a:avLst/>
          </a:prstGeom>
          <a:solidFill>
            <a:srgbClr val="17305A"/>
          </a:solidFill>
          <a:ln w="254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83880" y="1234440"/>
            <a:ext cx="36576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93608" y="1234440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 A Memory Bot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11896" y="1920240"/>
            <a:ext cx="34015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Remembers your name, your degree, your preferences across the entire conversation. Exactly how ChatGPT really works.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311896" y="4681728"/>
            <a:ext cx="3401568" cy="53035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11896" y="4681728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⏱  15 min to build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052E16"/>
          </a:solidFill>
          <a:ln w="228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" y="629107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Plus: you will understand exactly HOW ChatGPT, Claude, and every AI assistant works under the hood.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📅  Today's Plan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57144" y="0"/>
            <a:ext cx="2331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Morning Lecture + Afternoon Lab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1167688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128016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9:00–9:30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91640" y="11155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📡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31136" y="1234440"/>
            <a:ext cx="77724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31136" y="12344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45536" y="1115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an API?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65392" y="1115568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Concepts, analogies, JSON, Singapore examples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72800" y="1234440"/>
            <a:ext cx="914400" cy="402336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0" y="12344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min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6032" y="1810512"/>
            <a:ext cx="1167688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" y="1810512"/>
            <a:ext cx="128016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8912" y="1810512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9:30–10:15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91640" y="18105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31136" y="1929384"/>
            <a:ext cx="7772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31136" y="192938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145536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LLM APIs Work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65392" y="1810512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Tokens, messages, temperature — Jupyter demos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972800" y="1929384"/>
            <a:ext cx="914400" cy="402336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72800" y="192938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min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6032" y="2505456"/>
            <a:ext cx="11676888" cy="640080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56032" y="2505456"/>
            <a:ext cx="128016" cy="6400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912" y="2505456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10:15–10:30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91640" y="25054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☕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286000" y="25054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65392" y="2505456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up — ask the instructor anything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972800" y="2624328"/>
            <a:ext cx="914400" cy="402336"/>
          </a:xfrm>
          <a:prstGeom prst="rect">
            <a:avLst/>
          </a:prstGeom>
          <a:solidFill>
            <a:srgbClr val="475569">
              <a:alpha val="20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972800" y="26243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min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56032" y="3200400"/>
            <a:ext cx="1167688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" y="3200400"/>
            <a:ext cx="128016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320040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10:30–11:00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691640" y="3200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🔑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231136" y="3319272"/>
            <a:ext cx="7772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231136" y="331927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M3+4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145536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+ First Real Call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65392" y="3200400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 up for free key, set limits, first live API call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0972800" y="3319272"/>
            <a:ext cx="914400" cy="402336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972800" y="33192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min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56032" y="3895344"/>
            <a:ext cx="1167688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56032" y="3895344"/>
            <a:ext cx="128016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38912" y="3895344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11:00–11:40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691640" y="389534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💻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231136" y="4014216"/>
            <a:ext cx="77724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231136" y="401421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M5+6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145536" y="389534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Example + Build Bot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65392" y="389534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 function, streaming, then build the personality bots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972800" y="4014216"/>
            <a:ext cx="914400" cy="402336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972800" y="40142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 min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56032" y="4590288"/>
            <a:ext cx="11676888" cy="640080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56032" y="4590288"/>
            <a:ext cx="128016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38912" y="4590288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11:40–12:00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691640" y="45902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🎯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286000" y="45902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 + Q&amp;A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565392" y="4590288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errors, key concepts review, your questions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0972800" y="4709160"/>
            <a:ext cx="914400" cy="402336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972800" y="4709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min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56032" y="5285232"/>
            <a:ext cx="11676888" cy="640080"/>
          </a:xfrm>
          <a:prstGeom prst="rect">
            <a:avLst/>
          </a:prstGeom>
          <a:solidFill>
            <a:srgbClr val="E8F4FD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56032" y="5285232"/>
            <a:ext cx="128016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38912" y="5285232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AFTERNOON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691640" y="52852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🧪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231136" y="5404104"/>
            <a:ext cx="82296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231136" y="54041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3145536" y="52852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Hands-On Exercises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565392" y="5285232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→ Bots → Memory → Build your own app (3 hrs)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972800" y="5404104"/>
            <a:ext cx="914400" cy="402336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0972800" y="540410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hrs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📡  What is an API?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154887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11548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 =  </a:t>
            </a:r>
            <a:r>
              <a:rPr lang="en-US" sz="3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pplication   </a:t>
            </a:r>
            <a:r>
              <a:rPr lang="en-US" sz="3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rogramming   </a:t>
            </a:r>
            <a:r>
              <a:rPr lang="en-US" sz="3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nterface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3657600" cy="3657600"/>
          </a:xfrm>
          <a:prstGeom prst="rect">
            <a:avLst/>
          </a:prstGeom>
          <a:solidFill>
            <a:srgbClr val="17305A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36576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214884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8056" y="2761488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software — your Python script, a website, a mobile app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" y="3886200"/>
            <a:ext cx="3401568" cy="1719072"/>
          </a:xfrm>
          <a:prstGeom prst="rect">
            <a:avLst/>
          </a:prstGeom>
          <a:solidFill>
            <a:srgbClr val="0D1B2A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08" y="3950208"/>
            <a:ext cx="32735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 The Grab app is an 'Application'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78808" y="2148840"/>
            <a:ext cx="3657600" cy="3657600"/>
          </a:xfrm>
          <a:prstGeom prst="rect">
            <a:avLst/>
          </a:prstGeom>
          <a:solidFill>
            <a:srgbClr val="17305A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78808" y="2148840"/>
            <a:ext cx="365760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88536" y="214884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06824" y="2761488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 automatically through code — not by clicking buttons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06824" y="3886200"/>
            <a:ext cx="3401568" cy="1719072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79976" y="3950208"/>
            <a:ext cx="32735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 A script that sends a WhatsApp message at midnight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37576" y="2148840"/>
            <a:ext cx="3657600" cy="3657600"/>
          </a:xfrm>
          <a:prstGeom prst="rect">
            <a:avLst/>
          </a:prstGeom>
          <a:solidFill>
            <a:srgbClr val="17305A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37576" y="2148840"/>
            <a:ext cx="365760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47304" y="214884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65592" y="2761488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defined MENU of what you can ask for, and how to ask it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65592" y="3886200"/>
            <a:ext cx="3401568" cy="1719072"/>
          </a:xfrm>
          <a:prstGeom prst="rect">
            <a:avLst/>
          </a:prstGeom>
          <a:solidFill>
            <a:srgbClr val="0D1B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38744" y="3950208"/>
            <a:ext cx="327355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 Like an ATM panel — press buttons, don't touch the bank's computers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5989320"/>
            <a:ext cx="11548872" cy="749808"/>
          </a:xfrm>
          <a:prstGeom prst="rect">
            <a:avLst/>
          </a:prstGeom>
          <a:solidFill>
            <a:srgbClr val="1A2E0A"/>
          </a:solidFill>
          <a:ln w="228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5488" y="5989320"/>
            <a:ext cx="1124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💡  YOU (your app)  →  MENU (API docs)  →  WAITER (the API)  →  KITCHEN (server)  →  FOOD (response)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🌍  APIs You Already Use Every 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78240" y="0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7E8F9"/>
                </a:solidFill>
              </a:rPr>
              <a:t>Singapore Examples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36576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36576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🚗  Grab / GoJek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755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API — draws the route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22128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API — charges your GrabPay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26700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Driver-matching API — finds the nearest driver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87952" y="1115568"/>
            <a:ext cx="36576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87952" y="1115568"/>
            <a:ext cx="3657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97680" y="11155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🛒  Shopee / Lazada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70832" y="17556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API — secure checkout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70832" y="22128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Logistics API — track your parcel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70832" y="267004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 API — you might also like…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79532" y="1143460"/>
            <a:ext cx="36576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79532" y="1143460"/>
            <a:ext cx="36576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70972" y="113232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🌤️  Weather App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0" y="1794065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AccuWeather API — live temperature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0" y="2251265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API — your GPS coordinates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0" y="2708465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API — tomorrow's rain chance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3904488"/>
            <a:ext cx="36576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" y="3904488"/>
            <a:ext cx="365760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90448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🔑  Sign in with Google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8912" y="445312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Auth API — verifies your identity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912" y="491032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OAuth Token — secure access granted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8912" y="536752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password is NEVER shared with the site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63568" y="3904488"/>
            <a:ext cx="36576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163568" y="3904488"/>
            <a:ext cx="36576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73296" y="39044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🎵  Spotify / Music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346448" y="45445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Streaming API — fetches the audio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346448" y="50017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Lyrics API — shows the words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46448" y="54589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 API — next song to play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095488" y="3904488"/>
            <a:ext cx="3657600" cy="2542032"/>
          </a:xfrm>
          <a:prstGeom prst="rect">
            <a:avLst/>
          </a:prstGeom>
          <a:solidFill>
            <a:srgbClr val="FFFFFF"/>
          </a:solidFill>
          <a:ln w="2286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95488" y="3904488"/>
            <a:ext cx="365760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05216" y="39044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🤖  ChatGPT = API + UI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78368" y="45445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API — THE SAME ONE we learn today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78368" y="50017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you type, it makes an API call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78368" y="545896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We'll do this directly from Python ⭐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 API  vs  LLM API — A Critical Difference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486400" cy="5047488"/>
          </a:xfrm>
          <a:prstGeom prst="rect">
            <a:avLst/>
          </a:prstGeom>
          <a:solidFill>
            <a:srgbClr val="17305A"/>
          </a:solidFill>
          <a:ln w="254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48640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5266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🏧  Regular API — Vending Machine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" y="1883664"/>
            <a:ext cx="5266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 B3  →  ALWAYS get a Coke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Same input → SAME output. Always.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Completely predictable (like a calculator)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Easy to test — one correct answer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Never wrong — reads from a database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736592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 GET /weather → {temp: 31}  every time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82512" y="1188720"/>
            <a:ext cx="5486400" cy="5047488"/>
          </a:xfrm>
          <a:prstGeom prst="rect">
            <a:avLst/>
          </a:prstGeom>
          <a:solidFill>
            <a:srgbClr val="17305A"/>
          </a:solidFill>
          <a:ln w="2540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82512" y="1188720"/>
            <a:ext cx="54864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2240" y="1188720"/>
            <a:ext cx="5266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🤖  LLM API — Very Smart Friend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0" y="1883664"/>
            <a:ext cx="5266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question → Different answer each time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10528" y="2395728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🔄  Same input → DIFFERENT output each time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10528" y="2980944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🎲  Probabilistic — controlled by temperature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10528" y="3566160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🤔  Many valid answers, harder to test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0528" y="4151376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⚠️  Can HALLUCINATE — confident but WRONG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0528" y="4736592"/>
            <a:ext cx="5266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7E8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 'What is Python?' → varies each call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6327648"/>
            <a:ext cx="11548872" cy="420624"/>
          </a:xfrm>
          <a:prstGeom prst="rect">
            <a:avLst/>
          </a:prstGeom>
          <a:solidFill>
            <a:srgbClr val="2D0A0A"/>
          </a:solidFill>
          <a:ln w="228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" y="6327648"/>
            <a:ext cx="1127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⚠️  LLMs HALLUCINATE — they generate confident-sounding but FACTUALLY WRONG text. Always verify important information with a reliable source!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— The Language APIs Speak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376672" cy="5334818"/>
          </a:xfrm>
          <a:prstGeom prst="rect">
            <a:avLst/>
          </a:prstGeom>
          <a:solidFill>
            <a:srgbClr val="0D1B2A"/>
          </a:solidFill>
          <a:ln w="1524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5376672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8056" y="1188720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In [1]:  Python dict = JSON object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" y="157276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{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" y="1974273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"name":    "Aisha ",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" y="2375777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"year":    2,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" y="277728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"gpa":     3.85,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" y="3178787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"active":  true,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" y="3580292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"modules": ["CS2030", "CS2040"],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" y="3981796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"advisor": null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" y="4383301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" y="4784806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" y="5186311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SEND to API  →  json.dumps(student)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" y="5587815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GET  from API →  json.loads(text)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25312" y="1188720"/>
            <a:ext cx="59436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71032" y="11887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42632" y="11887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77072" y="11887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11512" y="1188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25312" y="1682496"/>
            <a:ext cx="5943600" cy="384048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71032" y="168249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FF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42632" y="1682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77072" y="16824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"text"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811512" y="1682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"Aisha"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25312" y="2084832"/>
            <a:ext cx="5943600" cy="384048"/>
          </a:xfrm>
          <a:prstGeom prst="rect">
            <a:avLst/>
          </a:prstGeom>
          <a:solidFill>
            <a:srgbClr val="17305A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71032" y="20848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Integer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342632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77072" y="20848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number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11512" y="20848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25312" y="2487168"/>
            <a:ext cx="5943600" cy="384048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71032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Decimal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42632" y="24871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float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577072" y="24871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number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811512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3.85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25312" y="2889504"/>
            <a:ext cx="5943600" cy="384048"/>
          </a:xfrm>
          <a:prstGeom prst="rect">
            <a:avLst/>
          </a:prstGeom>
          <a:solidFill>
            <a:srgbClr val="17305A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71032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Boolean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42632" y="28895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True/False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577072" y="28895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true/false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811512" y="2889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true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925312" y="3291840"/>
            <a:ext cx="5943600" cy="384048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71032" y="3291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Nothing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42632" y="3291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None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577072" y="3291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null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811512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null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925312" y="3694176"/>
            <a:ext cx="5943600" cy="384048"/>
          </a:xfrm>
          <a:prstGeom prst="rect">
            <a:avLst/>
          </a:prstGeom>
          <a:solidFill>
            <a:srgbClr val="17305A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971032" y="36941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92E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List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342632" y="36941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list []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577072" y="369417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array []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811512" y="36941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["CS","IS"]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925312" y="4096512"/>
            <a:ext cx="5943600" cy="384048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971032" y="4096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Dict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342632" y="40965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dict {}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577072" y="40965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object {}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811512" y="4096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{"a":1}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925312" y="4517136"/>
            <a:ext cx="5943600" cy="773318"/>
          </a:xfrm>
          <a:prstGeom prst="rect">
            <a:avLst/>
          </a:prstGeom>
          <a:solidFill>
            <a:srgbClr val="052E16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16752" y="4517136"/>
            <a:ext cx="5852160" cy="77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json.dumps()  →  Python  to  JSON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json.loads()  →  JSON  to  Python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5925312" y="5413220"/>
            <a:ext cx="5943600" cy="1110318"/>
          </a:xfrm>
          <a:prstGeom prst="rect">
            <a:avLst/>
          </a:prstGeom>
          <a:solidFill>
            <a:srgbClr val="2D1B0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053328" y="54589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⚠️  JSON Rules: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6080760" y="581555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Always double quotes:  "name"  not  'name'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080760" y="601672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No trailing comma after the last item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080760" y="621789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 Lowercase:  true  /  false  /  null  (not Python's True/False/None)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MODULE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 Tokens — The Currency of Everything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383280" cy="2542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0.75</a:t>
            </a:r>
            <a:endParaRPr lang="en-US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5420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0F2F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per token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29809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F2F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· Speed · Context limits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rgbClr val="E0F2F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measured in tokens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13632" y="1188720"/>
            <a:ext cx="7379208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920" y="1188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0" y="11887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Breaks Into Tokens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84080" y="1188720"/>
            <a:ext cx="1527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13632" y="1645920"/>
            <a:ext cx="7379208" cy="374904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13632" y="1645920"/>
            <a:ext cx="82296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0" y="1645920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"hello"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07808" y="1645920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"hello"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729216" y="1682496"/>
            <a:ext cx="1536192" cy="30175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29216" y="1682496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13632" y="2039112"/>
            <a:ext cx="7379208" cy="374904"/>
          </a:xfrm>
          <a:prstGeom prst="rect">
            <a:avLst/>
          </a:prstGeom>
          <a:solidFill>
            <a:srgbClr val="17305A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13632" y="2039112"/>
            <a:ext cx="82296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23360" y="2039112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"running"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07808" y="2039112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"running"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729216" y="2075688"/>
            <a:ext cx="1536192" cy="30175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729216" y="207568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13632" y="2432304"/>
            <a:ext cx="7379208" cy="374904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913632" y="2432304"/>
            <a:ext cx="82296" cy="3749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23360" y="2432304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"ChatGPT"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07808" y="2432304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"Chat" + "GPT"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729216" y="2468880"/>
            <a:ext cx="1536192" cy="30175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29216" y="2468880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913632" y="2825496"/>
            <a:ext cx="7379208" cy="374904"/>
          </a:xfrm>
          <a:prstGeom prst="rect">
            <a:avLst/>
          </a:prstGeom>
          <a:solidFill>
            <a:srgbClr val="17305A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913632" y="2825496"/>
            <a:ext cx="82296" cy="3749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023360" y="2825496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"supercalifragilistic"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07808" y="2825496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"super"+"cali"+"fra"+"gilis"+"tic"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729216" y="2862072"/>
            <a:ext cx="1536192" cy="30175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729216" y="2862072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913632" y="3218688"/>
            <a:ext cx="7379208" cy="374904"/>
          </a:xfrm>
          <a:prstGeom prst="rect">
            <a:avLst/>
          </a:prstGeom>
          <a:solidFill>
            <a:srgbClr val="112244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913632" y="3218688"/>
            <a:ext cx="82296" cy="374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023360" y="3218688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"NUS"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607808" y="3218688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"NUS"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729216" y="3255264"/>
            <a:ext cx="1536192" cy="30175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729216" y="325526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913632" y="3611880"/>
            <a:ext cx="7379208" cy="374904"/>
          </a:xfrm>
          <a:prstGeom prst="rect">
            <a:avLst/>
          </a:prstGeom>
          <a:solidFill>
            <a:srgbClr val="17305A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913632" y="3611880"/>
            <a:ext cx="82296" cy="3749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023360" y="3611880"/>
            <a:ext cx="3547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1,000-word essay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607808" y="3611880"/>
            <a:ext cx="2084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~1,333 tokens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729216" y="3648456"/>
            <a:ext cx="1536192" cy="301752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29216" y="3648456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words × 1.33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20039" y="4069080"/>
            <a:ext cx="11602161" cy="2261718"/>
          </a:xfrm>
          <a:prstGeom prst="rect">
            <a:avLst/>
          </a:prstGeom>
          <a:solidFill>
            <a:srgbClr val="052E16"/>
          </a:solidFill>
          <a:ln w="228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75487" y="4133088"/>
            <a:ext cx="11023431" cy="345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💰  Cost Reality — This Entire Class Costs Less Than a Cup of Coffee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75487" y="4572000"/>
            <a:ext cx="11299017" cy="376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students × 20 questions × 150 tokens  =  90,000 tokens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75487" y="5065776"/>
            <a:ext cx="11299017" cy="376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Cost:  90,000 ÷ 1,000,000 × $0.15 (GPT-4o mini)  =  $0.0135 USD  ≈  less than 2 Singapore cents total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75487" y="5559552"/>
            <a:ext cx="11299017" cy="376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⚠️  The ONLY real risk: an accidental loop calling the API thousands of times.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75487" y="5998464"/>
            <a:ext cx="11299017" cy="376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Solution: Set a $5 hard spending limit on your OpenAI account. We do this in Module 3.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E0E2D7-1958-FAA4-907B-D5C29774EE44}"/>
              </a:ext>
            </a:extLst>
          </p:cNvPr>
          <p:cNvSpPr txBox="1"/>
          <p:nvPr/>
        </p:nvSpPr>
        <p:spPr>
          <a:xfrm>
            <a:off x="3043924" y="6392757"/>
            <a:ext cx="6101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0">
              <a:spcBef>
                <a:spcPts val="200"/>
              </a:spcBef>
              <a:spcAft>
                <a:spcPts val="200"/>
              </a:spcAft>
              <a:buNone/>
            </a:pPr>
            <a:r>
              <a:rPr lang="en-SG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Try it yourself! Visit </a:t>
            </a:r>
            <a:r>
              <a:rPr lang="en-SG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https://platform.openai.com/tokenizer</a:t>
            </a:r>
            <a:r>
              <a:rPr lang="en-SG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SG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MODULE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Messages Array — How the AI Reads Your Request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657600" cy="4224528"/>
          </a:xfrm>
          <a:prstGeom prst="rect">
            <a:avLst/>
          </a:prstGeom>
          <a:solidFill>
            <a:srgbClr val="17305A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36576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" y="118872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⚙️  role: "system"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" y="179222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Sets the AI's Persona &amp; Rules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" y="2194560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the AI's behaviour, tone, and persona.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Applies to EVERY single reply.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" y="3063240"/>
            <a:ext cx="340156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0815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"You are a Python tutor. Use simple language."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8056" y="3602736"/>
            <a:ext cx="3401568" cy="457200"/>
          </a:xfrm>
          <a:prstGeom prst="rect">
            <a:avLst/>
          </a:prstGeom>
          <a:solidFill>
            <a:srgbClr val="0D1B2A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" y="3621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{"role":"system","content":"..."}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06240" y="1188720"/>
            <a:ext cx="3657600" cy="4224528"/>
          </a:xfrm>
          <a:prstGeom prst="rect">
            <a:avLst/>
          </a:prstGeom>
          <a:solidFill>
            <a:srgbClr val="17305A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06240" y="1188720"/>
            <a:ext cx="365760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15968" y="118872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👤  role: "user"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34256" y="179222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Question or Instruction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34256" y="2194560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you are asking or telling the AI.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Added every time you send a message.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34256" y="3063240"/>
            <a:ext cx="340156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0" y="30815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"What is a variable?"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34256" y="3602736"/>
            <a:ext cx="3401568" cy="457200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70832" y="3621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{"role":"user","content":"..."}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2440" y="1188720"/>
            <a:ext cx="3657600" cy="4224528"/>
          </a:xfrm>
          <a:prstGeom prst="rect">
            <a:avLst/>
          </a:prstGeom>
          <a:solidFill>
            <a:srgbClr val="17305A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092440" y="1188720"/>
            <a:ext cx="365760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02168" y="118872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🤖  role: "assistant"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0456" y="179222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AI's Previous Replies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20456" y="2194560"/>
            <a:ext cx="3401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 AI responses — added to simulate memory.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append these after each API response.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0456" y="3063240"/>
            <a:ext cx="340156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75320" y="30815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"A variable is a named storage location."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20456" y="3602736"/>
            <a:ext cx="3401568" cy="457200"/>
          </a:xfrm>
          <a:prstGeom prst="rect">
            <a:avLst/>
          </a:prstGeom>
          <a:solidFill>
            <a:srgbClr val="0D1B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57032" y="3621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{"role":"assistant","content":"..."}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33756" y="5486400"/>
            <a:ext cx="11521440" cy="980885"/>
          </a:xfrm>
          <a:prstGeom prst="rect">
            <a:avLst/>
          </a:prstGeom>
          <a:solidFill>
            <a:srgbClr val="2D0A2D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5488" y="555955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 CRITICAL: </a:t>
            </a: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are COMPLETELY STATELESS. Every single API call starts completely fresh. The model remembers NOTHING between calls.
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messages array IS the only memory. Include past messages → the AI can 'remember'.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11704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🌡️  Temperature — The Creativity Dial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16459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65960" y="1115568"/>
            <a:ext cx="1645920" cy="475488"/>
          </a:xfrm>
          <a:prstGeom prst="rect">
            <a:avLst/>
          </a:prstGeom>
          <a:solidFill>
            <a:srgbClr val="1E90A0"/>
          </a:solidFill>
          <a:ln w="12700">
            <a:solidFill>
              <a:srgbClr val="1E90A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11880" y="1115568"/>
            <a:ext cx="1645920" cy="475488"/>
          </a:xfrm>
          <a:prstGeom prst="rect">
            <a:avLst/>
          </a:prstGeom>
          <a:solidFill>
            <a:srgbClr val="384896"/>
          </a:solidFill>
          <a:ln w="12700">
            <a:solidFill>
              <a:srgbClr val="38489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57800" y="1115568"/>
            <a:ext cx="1645920" cy="475488"/>
          </a:xfrm>
          <a:prstGeom prst="rect">
            <a:avLst/>
          </a:prstGeom>
          <a:solidFill>
            <a:srgbClr val="5530A0"/>
          </a:solidFill>
          <a:ln w="12700">
            <a:solidFill>
              <a:srgbClr val="5530A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03720" y="1115568"/>
            <a:ext cx="1645920" cy="475488"/>
          </a:xfrm>
          <a:prstGeom prst="rect">
            <a:avLst/>
          </a:prstGeom>
          <a:solidFill>
            <a:srgbClr val="8028A0"/>
          </a:solidFill>
          <a:ln w="12700">
            <a:solidFill>
              <a:srgbClr val="8028A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549640" y="1115568"/>
            <a:ext cx="1645920" cy="475488"/>
          </a:xfrm>
          <a:prstGeom prst="rect">
            <a:avLst/>
          </a:prstGeom>
          <a:solidFill>
            <a:srgbClr val="B01870"/>
          </a:solidFill>
          <a:ln w="12700">
            <a:solidFill>
              <a:srgbClr val="B0187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195560" y="1115568"/>
            <a:ext cx="1645920" cy="475488"/>
          </a:xfrm>
          <a:prstGeom prst="rect">
            <a:avLst/>
          </a:prstGeom>
          <a:solidFill>
            <a:srgbClr val="DC1040"/>
          </a:solidFill>
          <a:ln w="12700">
            <a:solidFill>
              <a:srgbClr val="DC104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591056"/>
            <a:ext cx="36576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" y="17922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888736" y="1591056"/>
            <a:ext cx="36576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0136" y="17922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109960" y="1591056"/>
            <a:ext cx="36576" cy="182880"/>
          </a:xfrm>
          <a:prstGeom prst="rect">
            <a:avLst/>
          </a:prstGeom>
          <a:solidFill>
            <a:srgbClr val="DC1040"/>
          </a:solidFill>
          <a:ln w="12700">
            <a:solidFill>
              <a:srgbClr val="DC104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81360" y="17922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1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" y="22128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every time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49240" y="22128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 ★ Start here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424160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1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creative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DC1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(unpredictable)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2907792"/>
            <a:ext cx="2212848" cy="3822192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" y="2907792"/>
            <a:ext cx="2212848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6032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🔒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6032" y="3566160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7472" y="4343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19933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Maths, code, factual Q&amp;A,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structured output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33472" y="2907792"/>
            <a:ext cx="2212848" cy="3822192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9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633472" y="2907792"/>
            <a:ext cx="2212848" cy="621792"/>
          </a:xfrm>
          <a:prstGeom prst="rect">
            <a:avLst/>
          </a:prstGeom>
          <a:solidFill>
            <a:srgbClr val="1A7A90"/>
          </a:solidFill>
          <a:ln w="12700">
            <a:solidFill>
              <a:srgbClr val="1A7A9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633472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📊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33472" y="3566160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7A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724912" y="4343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743200" y="4754880"/>
            <a:ext cx="19933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Classification, data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extraction, formal writing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10912" y="2907792"/>
            <a:ext cx="2212848" cy="382219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10912" y="2907792"/>
            <a:ext cx="221284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10912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⚖️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10912" y="3566160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102352" y="4343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 ★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120640" y="4754880"/>
            <a:ext cx="19933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chat, explanations,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tutoring — START HERE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388352" y="2907792"/>
            <a:ext cx="2212848" cy="3822192"/>
          </a:xfrm>
          <a:prstGeom prst="rect">
            <a:avLst/>
          </a:prstGeom>
          <a:solidFill>
            <a:srgbClr val="FFFFFF"/>
          </a:solidFill>
          <a:ln w="25400">
            <a:solidFill>
              <a:srgbClr val="C8406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88352" y="2907792"/>
            <a:ext cx="2212848" cy="621792"/>
          </a:xfrm>
          <a:prstGeom prst="rect">
            <a:avLst/>
          </a:prstGeom>
          <a:solidFill>
            <a:srgbClr val="C84060"/>
          </a:solidFill>
          <a:ln w="12700">
            <a:solidFill>
              <a:srgbClr val="C8406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388352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🎨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88352" y="3566160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84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79792" y="4343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Creative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98080" y="4754880"/>
            <a:ext cx="19933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Brainstorming, storytelling,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creative writing tasks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765792" y="2907792"/>
            <a:ext cx="2212848" cy="3822192"/>
          </a:xfrm>
          <a:prstGeom prst="rect">
            <a:avLst/>
          </a:prstGeom>
          <a:solidFill>
            <a:srgbClr val="FFFFFF"/>
          </a:solidFill>
          <a:ln w="25400">
            <a:solidFill>
              <a:srgbClr val="DC104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9765792" y="2907792"/>
            <a:ext cx="2212848" cy="621792"/>
          </a:xfrm>
          <a:prstGeom prst="rect">
            <a:avLst/>
          </a:prstGeom>
          <a:solidFill>
            <a:srgbClr val="DC1040"/>
          </a:solidFill>
          <a:ln w="12700">
            <a:solidFill>
              <a:srgbClr val="DC104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65792" y="2907792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🎭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765792" y="3566160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C1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1.5+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857232" y="4343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875520" y="4754880"/>
            <a:ext cx="19933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Poetry, comedy, highly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creative tasks only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7"/>
          <p:cNvSpPr/>
          <p:nvPr/>
        </p:nvSpPr>
        <p:spPr>
          <a:xfrm>
            <a:off x="411480" y="5437661"/>
            <a:ext cx="11606188" cy="1401963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🔑  Get Your API Key — Do This Now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5778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5358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🤖  OpenAI </a:t>
            </a:r>
            <a:r>
              <a:rPr lang="en-US" sz="1400" b="1" dirty="0">
                <a:solidFill>
                  <a:srgbClr val="FFFFFF"/>
                </a:solidFill>
              </a:rPr>
              <a:t>(GPT-4o mini)</a:t>
            </a: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7" y="1719072"/>
            <a:ext cx="479455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7" y="1719072"/>
            <a:ext cx="47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7" y="1627632"/>
            <a:ext cx="2013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platform.openai.com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89503" y="1627632"/>
            <a:ext cx="30205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to this URL in your browser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4047" y="2487168"/>
            <a:ext cx="479455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7" y="2487168"/>
            <a:ext cx="47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2687" y="2395728"/>
            <a:ext cx="2013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Sign Up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89503" y="2395728"/>
            <a:ext cx="30205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your DigiPen email. Verify it.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7" y="3255264"/>
            <a:ext cx="479455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4047" y="3255264"/>
            <a:ext cx="47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2687" y="3163824"/>
            <a:ext cx="2013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API Keys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889503" y="3163824"/>
            <a:ext cx="30205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 icon → API Keys → Create new secret key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4047" y="4023360"/>
            <a:ext cx="479455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4047" y="4023360"/>
            <a:ext cx="47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2687" y="3931920"/>
            <a:ext cx="2013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sk-proj-...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89503" y="3931920"/>
            <a:ext cx="30205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 it IMMEDIATELY — you only see it once!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4047" y="4791456"/>
            <a:ext cx="479455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4047" y="4791456"/>
            <a:ext cx="479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2688" y="467927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Set Limits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852928" y="4682341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 → Limits → Hard Limit = $5  ←  DO THIS FIRST!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72200" y="1188720"/>
            <a:ext cx="5696712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81928" y="1188720"/>
            <a:ext cx="5477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🆓 Google Gemini — Free Alternative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81714" y="5444925"/>
            <a:ext cx="5635953" cy="1389888"/>
          </a:xfrm>
          <a:prstGeom prst="rect">
            <a:avLst/>
          </a:prstGeom>
          <a:solidFill>
            <a:srgbClr val="2D0A0A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81715" y="5559464"/>
            <a:ext cx="5449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SPENDING LIMIT — SET THIS FIRST!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96508" y="5961415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Limit = $5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777496" y="5932692"/>
            <a:ext cx="4246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 Account STOPS at this amount — cannot exceed it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94614" y="6458149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 Limit = $3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7496" y="64522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 You get an email warning when approaching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6403" y="542663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Security Rule #1 — NEVER put your API key directly in your Python code: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94360" y="5760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Create a file called .env in your project folder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94360" y="6034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OPENAI_API_KEY=sk-proj-your-actual-key-here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94360" y="63092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In your Python code:   from dotenv import load_dotenv;  load_dotenv()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4360" y="658359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Add to .gitignore:     .env   venv/   __pycache__/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28">
            <a:extLst>
              <a:ext uri="{FF2B5EF4-FFF2-40B4-BE49-F238E27FC236}">
                <a16:creationId xmlns:a16="http://schemas.microsoft.com/office/drawing/2014/main" id="{2CF007F2-7790-5184-AE6D-D7E4E69DE924}"/>
              </a:ext>
            </a:extLst>
          </p:cNvPr>
          <p:cNvSpPr/>
          <p:nvPr/>
        </p:nvSpPr>
        <p:spPr>
          <a:xfrm>
            <a:off x="6199632" y="181051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29">
            <a:extLst>
              <a:ext uri="{FF2B5EF4-FFF2-40B4-BE49-F238E27FC236}">
                <a16:creationId xmlns:a16="http://schemas.microsoft.com/office/drawing/2014/main" id="{81A764B4-61B4-23C0-CD1B-E356EBACB9ED}"/>
              </a:ext>
            </a:extLst>
          </p:cNvPr>
          <p:cNvSpPr/>
          <p:nvPr/>
        </p:nvSpPr>
        <p:spPr>
          <a:xfrm>
            <a:off x="619963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30">
            <a:extLst>
              <a:ext uri="{FF2B5EF4-FFF2-40B4-BE49-F238E27FC236}">
                <a16:creationId xmlns:a16="http://schemas.microsoft.com/office/drawing/2014/main" id="{3B824E42-3BE6-50F4-EA07-09FD1E04E039}"/>
              </a:ext>
            </a:extLst>
          </p:cNvPr>
          <p:cNvSpPr/>
          <p:nvPr/>
        </p:nvSpPr>
        <p:spPr>
          <a:xfrm>
            <a:off x="6729984" y="1719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aistudio.google.com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31">
            <a:extLst>
              <a:ext uri="{FF2B5EF4-FFF2-40B4-BE49-F238E27FC236}">
                <a16:creationId xmlns:a16="http://schemas.microsoft.com/office/drawing/2014/main" id="{C42DF4CE-6DE6-6B9D-19B4-44CBC8330269}"/>
              </a:ext>
            </a:extLst>
          </p:cNvPr>
          <p:cNvSpPr/>
          <p:nvPr/>
        </p:nvSpPr>
        <p:spPr>
          <a:xfrm>
            <a:off x="8595360" y="1719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to this URL in your browser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32">
            <a:extLst>
              <a:ext uri="{FF2B5EF4-FFF2-40B4-BE49-F238E27FC236}">
                <a16:creationId xmlns:a16="http://schemas.microsoft.com/office/drawing/2014/main" id="{E862895E-362E-26D1-37A4-778CD860C259}"/>
              </a:ext>
            </a:extLst>
          </p:cNvPr>
          <p:cNvSpPr/>
          <p:nvPr/>
        </p:nvSpPr>
        <p:spPr>
          <a:xfrm>
            <a:off x="6199632" y="250545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33">
            <a:extLst>
              <a:ext uri="{FF2B5EF4-FFF2-40B4-BE49-F238E27FC236}">
                <a16:creationId xmlns:a16="http://schemas.microsoft.com/office/drawing/2014/main" id="{6ACBDFE0-A0FE-076F-C5E0-429B624DFDBD}"/>
              </a:ext>
            </a:extLst>
          </p:cNvPr>
          <p:cNvSpPr/>
          <p:nvPr/>
        </p:nvSpPr>
        <p:spPr>
          <a:xfrm>
            <a:off x="6199632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34">
            <a:extLst>
              <a:ext uri="{FF2B5EF4-FFF2-40B4-BE49-F238E27FC236}">
                <a16:creationId xmlns:a16="http://schemas.microsoft.com/office/drawing/2014/main" id="{8DD4BB29-AE09-4AF3-EE17-BEB37A037CC5}"/>
              </a:ext>
            </a:extLst>
          </p:cNvPr>
          <p:cNvSpPr/>
          <p:nvPr/>
        </p:nvSpPr>
        <p:spPr>
          <a:xfrm>
            <a:off x="6729984" y="24140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Sign In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35">
            <a:extLst>
              <a:ext uri="{FF2B5EF4-FFF2-40B4-BE49-F238E27FC236}">
                <a16:creationId xmlns:a16="http://schemas.microsoft.com/office/drawing/2014/main" id="{16A8325E-F9DA-D419-F8EE-AA9A84D33A57}"/>
              </a:ext>
            </a:extLst>
          </p:cNvPr>
          <p:cNvSpPr/>
          <p:nvPr/>
        </p:nvSpPr>
        <p:spPr>
          <a:xfrm>
            <a:off x="8595360" y="24140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any Google account (Gmail is fine)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36">
            <a:extLst>
              <a:ext uri="{FF2B5EF4-FFF2-40B4-BE49-F238E27FC236}">
                <a16:creationId xmlns:a16="http://schemas.microsoft.com/office/drawing/2014/main" id="{A5752ED9-9031-3C76-6EB2-A18FA26458D3}"/>
              </a:ext>
            </a:extLst>
          </p:cNvPr>
          <p:cNvSpPr/>
          <p:nvPr/>
        </p:nvSpPr>
        <p:spPr>
          <a:xfrm>
            <a:off x="6199632" y="32004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37">
            <a:extLst>
              <a:ext uri="{FF2B5EF4-FFF2-40B4-BE49-F238E27FC236}">
                <a16:creationId xmlns:a16="http://schemas.microsoft.com/office/drawing/2014/main" id="{53CFCED5-73A4-F49F-A81E-3A211CABCA47}"/>
              </a:ext>
            </a:extLst>
          </p:cNvPr>
          <p:cNvSpPr/>
          <p:nvPr/>
        </p:nvSpPr>
        <p:spPr>
          <a:xfrm>
            <a:off x="6199632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38">
            <a:extLst>
              <a:ext uri="{FF2B5EF4-FFF2-40B4-BE49-F238E27FC236}">
                <a16:creationId xmlns:a16="http://schemas.microsoft.com/office/drawing/2014/main" id="{4FD980AC-8C2A-C20F-60A2-C14E2234FF0C}"/>
              </a:ext>
            </a:extLst>
          </p:cNvPr>
          <p:cNvSpPr/>
          <p:nvPr/>
        </p:nvSpPr>
        <p:spPr>
          <a:xfrm>
            <a:off x="6729984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Get API key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 39">
            <a:extLst>
              <a:ext uri="{FF2B5EF4-FFF2-40B4-BE49-F238E27FC236}">
                <a16:creationId xmlns:a16="http://schemas.microsoft.com/office/drawing/2014/main" id="{4D980B1E-17B3-2B4D-3B8F-97B1E7B82381}"/>
              </a:ext>
            </a:extLst>
          </p:cNvPr>
          <p:cNvSpPr/>
          <p:nvPr/>
        </p:nvSpPr>
        <p:spPr>
          <a:xfrm>
            <a:off x="8595360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'Get API key' in the left sidebar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40">
            <a:extLst>
              <a:ext uri="{FF2B5EF4-FFF2-40B4-BE49-F238E27FC236}">
                <a16:creationId xmlns:a16="http://schemas.microsoft.com/office/drawing/2014/main" id="{722700AE-E6D2-2FE3-546F-86992CB0F98B}"/>
              </a:ext>
            </a:extLst>
          </p:cNvPr>
          <p:cNvSpPr/>
          <p:nvPr/>
        </p:nvSpPr>
        <p:spPr>
          <a:xfrm>
            <a:off x="6199632" y="389534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41">
            <a:extLst>
              <a:ext uri="{FF2B5EF4-FFF2-40B4-BE49-F238E27FC236}">
                <a16:creationId xmlns:a16="http://schemas.microsoft.com/office/drawing/2014/main" id="{C655CAA5-58DF-2E48-6E77-55D5463B367F}"/>
              </a:ext>
            </a:extLst>
          </p:cNvPr>
          <p:cNvSpPr/>
          <p:nvPr/>
        </p:nvSpPr>
        <p:spPr>
          <a:xfrm>
            <a:off x="6199632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42">
            <a:extLst>
              <a:ext uri="{FF2B5EF4-FFF2-40B4-BE49-F238E27FC236}">
                <a16:creationId xmlns:a16="http://schemas.microsoft.com/office/drawing/2014/main" id="{F409F32F-5E0C-D723-4646-777DBEA26628}"/>
              </a:ext>
            </a:extLst>
          </p:cNvPr>
          <p:cNvSpPr/>
          <p:nvPr/>
        </p:nvSpPr>
        <p:spPr>
          <a:xfrm>
            <a:off x="6729984" y="38039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Create API key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43">
            <a:extLst>
              <a:ext uri="{FF2B5EF4-FFF2-40B4-BE49-F238E27FC236}">
                <a16:creationId xmlns:a16="http://schemas.microsoft.com/office/drawing/2014/main" id="{A5FFE7EB-130A-9789-1C95-1D2CE7D60624}"/>
              </a:ext>
            </a:extLst>
          </p:cNvPr>
          <p:cNvSpPr/>
          <p:nvPr/>
        </p:nvSpPr>
        <p:spPr>
          <a:xfrm>
            <a:off x="8595360" y="380390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Create API key in new project → Copy it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44">
            <a:extLst>
              <a:ext uri="{FF2B5EF4-FFF2-40B4-BE49-F238E27FC236}">
                <a16:creationId xmlns:a16="http://schemas.microsoft.com/office/drawing/2014/main" id="{11701E9E-A1F1-CC8A-01D9-D3815F4C0FCD}"/>
              </a:ext>
            </a:extLst>
          </p:cNvPr>
          <p:cNvSpPr/>
          <p:nvPr/>
        </p:nvSpPr>
        <p:spPr>
          <a:xfrm>
            <a:off x="6199632" y="459028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45">
            <a:extLst>
              <a:ext uri="{FF2B5EF4-FFF2-40B4-BE49-F238E27FC236}">
                <a16:creationId xmlns:a16="http://schemas.microsoft.com/office/drawing/2014/main" id="{2AF570F5-CE49-8D53-FDAE-5E6C51A09F3F}"/>
              </a:ext>
            </a:extLst>
          </p:cNvPr>
          <p:cNvSpPr/>
          <p:nvPr/>
        </p:nvSpPr>
        <p:spPr>
          <a:xfrm>
            <a:off x="6199632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46">
            <a:extLst>
              <a:ext uri="{FF2B5EF4-FFF2-40B4-BE49-F238E27FC236}">
                <a16:creationId xmlns:a16="http://schemas.microsoft.com/office/drawing/2014/main" id="{2E8D1EE3-C1F8-C27B-4335-ED216B0B6674}"/>
              </a:ext>
            </a:extLst>
          </p:cNvPr>
          <p:cNvSpPr/>
          <p:nvPr/>
        </p:nvSpPr>
        <p:spPr>
          <a:xfrm>
            <a:off x="6729984" y="44988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AIzaSy-...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47">
            <a:extLst>
              <a:ext uri="{FF2B5EF4-FFF2-40B4-BE49-F238E27FC236}">
                <a16:creationId xmlns:a16="http://schemas.microsoft.com/office/drawing/2014/main" id="{8844F936-B78A-7E10-BA2A-0B2B43E54EC1}"/>
              </a:ext>
            </a:extLst>
          </p:cNvPr>
          <p:cNvSpPr/>
          <p:nvPr/>
        </p:nvSpPr>
        <p:spPr>
          <a:xfrm>
            <a:off x="8595360" y="4498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starts with AIzaSy  ·  Add to .env file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🔌  Your First Real API Call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1548872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🪐  Open:  module4_first_api_call.ipynb  →  Type each cell below  →  Shift+Enter to run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5806440" cy="5010912"/>
          </a:xfrm>
          <a:prstGeom prst="rect">
            <a:avLst/>
          </a:prstGeom>
          <a:solidFill>
            <a:srgbClr val="0D1B2A"/>
          </a:solidFill>
          <a:ln w="1524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5806440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" y="1664208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In [2]: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" y="2048256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Cell 1: Setup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" y="2300224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from openai import OpenAI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" y="2552192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from dotenv import load_dotenv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" y="2804160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load_dotenv()   # Read .env file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" y="3056128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client = OpenAI()  # Create connection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" y="3308096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" y="3560064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Cell 2: Make the call!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" y="3812032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response = client.chat.completions.create(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" y="4064000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model       = "gpt-4o-mini",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" y="4315968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messages    = [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" y="4567936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{"role":"system","content":"Be helpful."},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" y="4819904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{"role":"user",  "content":"What is Python?"}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" y="5071872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],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" y="5323840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temperature = 0.7,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" y="5575808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max_tokens  = 100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" y="5827776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" y="6079744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answer = response.choices[0].message.content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" y="6331712"/>
            <a:ext cx="5532120" cy="251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print(answer)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45936" y="1664208"/>
            <a:ext cx="5522976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37376" y="1664208"/>
            <a:ext cx="5340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Line-by-Line Explanation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45936" y="2139696"/>
            <a:ext cx="1988271" cy="512064"/>
          </a:xfrm>
          <a:prstGeom prst="rect">
            <a:avLst/>
          </a:prstGeom>
          <a:solidFill>
            <a:srgbClr val="1323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345936" y="2139696"/>
            <a:ext cx="82296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73952" y="2139696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load_dotenv()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44667" y="2139696"/>
            <a:ext cx="3424245" cy="51206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36107" y="2139696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.env, loads key into environment. MUST run before OpenAI().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45936" y="2697480"/>
            <a:ext cx="1988271" cy="512064"/>
          </a:xfrm>
          <a:prstGeom prst="rect">
            <a:avLst/>
          </a:prstGeom>
          <a:solidFill>
            <a:srgbClr val="0D1A2D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45936" y="2697480"/>
            <a:ext cx="82296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73952" y="2697480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model="gpt-4o-mini"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444667" y="2697480"/>
            <a:ext cx="342424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36107" y="2697480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AI model. Fast, cheap (~$0.15/M tokens). Perfect for learning.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345936" y="3255264"/>
            <a:ext cx="1988271" cy="512064"/>
          </a:xfrm>
          <a:prstGeom prst="rect">
            <a:avLst/>
          </a:prstGeom>
          <a:solidFill>
            <a:srgbClr val="1323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45936" y="3255264"/>
            <a:ext cx="82296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73952" y="3255264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"role":"system"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444667" y="3255264"/>
            <a:ext cx="3424245" cy="51206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536107" y="3255264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AI's rules — applied to every reply in the conversation.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45936" y="3813048"/>
            <a:ext cx="1988271" cy="512064"/>
          </a:xfrm>
          <a:prstGeom prst="rect">
            <a:avLst/>
          </a:prstGeom>
          <a:solidFill>
            <a:srgbClr val="0D1A2D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345936" y="3813048"/>
            <a:ext cx="82296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73952" y="3813048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"role":"user"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444667" y="3813048"/>
            <a:ext cx="342424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536107" y="3813048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question or instruction to the AI.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345936" y="4370832"/>
            <a:ext cx="1988271" cy="512064"/>
          </a:xfrm>
          <a:prstGeom prst="rect">
            <a:avLst/>
          </a:prstGeom>
          <a:solidFill>
            <a:srgbClr val="1323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345936" y="4370832"/>
            <a:ext cx="82296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473952" y="4370832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temperature=0.7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444667" y="4370832"/>
            <a:ext cx="3424245" cy="51206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536107" y="4370832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Creativity dial. 0.7 = balanced. Always start here.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45936" y="4928616"/>
            <a:ext cx="1988271" cy="512064"/>
          </a:xfrm>
          <a:prstGeom prst="rect">
            <a:avLst/>
          </a:prstGeom>
          <a:solidFill>
            <a:srgbClr val="0D1A2D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345936" y="4928616"/>
            <a:ext cx="82296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473952" y="4928616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max_tokens=100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444667" y="4928616"/>
            <a:ext cx="342424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536107" y="4928616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⚠️  ALWAYS set this — prevents runaway token costs!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345936" y="5486400"/>
            <a:ext cx="1988271" cy="512064"/>
          </a:xfrm>
          <a:prstGeom prst="rect">
            <a:avLst/>
          </a:prstGeom>
          <a:solidFill>
            <a:srgbClr val="13233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345936" y="5486400"/>
            <a:ext cx="82296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73952" y="5486400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.choices[0]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444667" y="5486400"/>
            <a:ext cx="3424245" cy="512064"/>
          </a:xfrm>
          <a:prstGeom prst="rect">
            <a:avLst/>
          </a:prstGeom>
          <a:solidFill>
            <a:srgbClr val="F0F8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536107" y="5486400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is a list. [0] gets the first (and only) result.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345936" y="6044184"/>
            <a:ext cx="1988271" cy="512064"/>
          </a:xfrm>
          <a:prstGeom prst="rect">
            <a:avLst/>
          </a:prstGeom>
          <a:solidFill>
            <a:srgbClr val="0D1A2D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345936" y="6044184"/>
            <a:ext cx="82296" cy="5120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473952" y="6044184"/>
            <a:ext cx="18236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.message.content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8444667" y="6044184"/>
            <a:ext cx="3424245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536107" y="6044184"/>
            <a:ext cx="325965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Navigate to the AI's actual text response string.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What Your Code Will Produce — Expected Output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207008"/>
            <a:ext cx="1154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you type, here's exactly what you should see. If you see this, your code is working!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3657600" cy="4956048"/>
          </a:xfrm>
          <a:prstGeom prst="rect">
            <a:avLst/>
          </a:prstGeom>
          <a:solidFill>
            <a:srgbClr val="0D1B2A"/>
          </a:solidFill>
          <a:ln w="2286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365760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call output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" y="22494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🤖  AI says: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" y="2651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Python is a versatile, high-level programming language known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" y="305409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for its clean, readable syntax. It is widely used in data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" y="345643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science, web development, AI, and automation.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" y="385876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" y="426110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finish_reason:  stop  ← GOOD! Response is complete.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" y="466344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Total tokens:   68  |  Est. cost:  $0.000014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51960" y="1719072"/>
            <a:ext cx="3657600" cy="4956048"/>
          </a:xfrm>
          <a:prstGeom prst="rect">
            <a:avLst/>
          </a:prstGeom>
          <a:solidFill>
            <a:srgbClr val="0D1B2A"/>
          </a:solidFill>
          <a:ln w="2286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51960" y="1719072"/>
            <a:ext cx="36576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61688" y="171907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max_tokens is too small...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98264" y="22494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🤖  AI says: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98264" y="2651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Python is a versa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98264" y="305409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98264" y="345643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finish_reason:  length  ← ⚠️ RESPONSE WAS CUT OFF!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98264" y="385876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Fix: increase max_tokens from 10 to 150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98264" y="426110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98264" y="466344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This is a SILENT bug — no error, just incomplete answer!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83880" y="1719072"/>
            <a:ext cx="3657600" cy="4956048"/>
          </a:xfrm>
          <a:prstGeom prst="rect">
            <a:avLst/>
          </a:prstGeom>
          <a:solidFill>
            <a:srgbClr val="0D1B2A"/>
          </a:solidFill>
          <a:ln w="2286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83880" y="1719072"/>
            <a:ext cx="36576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93608" y="1719072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Streaming output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30184" y="224942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AI:  Python  is  a  vers  atile  high-level...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30184" y="265176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(words appear one at a time as generated)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30184" y="305409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30184" y="3456432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This is what happens with stream=True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30184" y="3858768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Time to first word:  &lt; 0.5 seconds!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30184" y="4261104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Same total time, but feels INSTANT to the user.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11704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 vs  Google Gemini — Key Differences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441448" cy="53035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6032" y="111556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0" y="1115568"/>
            <a:ext cx="429768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0" y="111556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🤖  OpenAI (GPT-4o mini)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52360" y="1115568"/>
            <a:ext cx="457200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52360" y="1115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🆓  Google Gemini (gemini-1.5-flash)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" y="1691640"/>
            <a:ext cx="24414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" y="1691640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169164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08376" y="1691640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pip install openai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52360" y="1691640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34656" y="1691640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pip install google-generativeai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" y="2359152"/>
            <a:ext cx="2441448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" y="2359152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variable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926080" y="2359152"/>
            <a:ext cx="429768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08376" y="2359152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OPENAI_API_KEY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52360" y="2359152"/>
            <a:ext cx="4572000" cy="621792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34656" y="2359152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GOOGLE_API_KEY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6032" y="3026664"/>
            <a:ext cx="24414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472" y="3026664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setup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26080" y="3026664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08376" y="3026664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client = OpenAI()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52360" y="3026664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34656" y="3026664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genai.configure(api_key=...)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2441448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7472" y="3694176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name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26080" y="3694176"/>
            <a:ext cx="429768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008376" y="3694176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gpt-4o-mini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52360" y="3694176"/>
            <a:ext cx="4572000" cy="621792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34656" y="3694176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gemini-1.5-flash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" y="4361688"/>
            <a:ext cx="24414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47472" y="4361688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a call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926080" y="4361688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008376" y="4361688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.chat.completions.create(...)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52360" y="4361688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34656" y="4361688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model.generate_content(...)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56032" y="5029200"/>
            <a:ext cx="2441448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47472" y="5029200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text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926080" y="5029200"/>
            <a:ext cx="4297680" cy="621792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008376" y="5029200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.choices[0].message.content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452360" y="5029200"/>
            <a:ext cx="4572000" cy="621792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34656" y="5029200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response.text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56032" y="5696712"/>
            <a:ext cx="244144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47472" y="5696712"/>
            <a:ext cx="2258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926080" y="569671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008376" y="5696712"/>
            <a:ext cx="4133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Paid (tiny — ~$0.000030/call)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452360" y="5696712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534656" y="5696712"/>
            <a:ext cx="4407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FREE — no credit card needed</a:t>
            </a:r>
            <a:endParaRPr lang="en-US" sz="1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MODULE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💻  The Complete Safe ask() Function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21096"/>
            <a:ext cx="6510528" cy="5577840"/>
          </a:xfrm>
          <a:prstGeom prst="rect">
            <a:avLst/>
          </a:prstGeom>
          <a:solidFill>
            <a:srgbClr val="0D1B2A"/>
          </a:solidFill>
          <a:ln w="1524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6510528" cy="329184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8056" y="1207008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module5_full_example.ipynb  →  In [1]: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def ask(prompt, system='You are helpful.', temperature=0.7, max_tokens=200):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" y="1808127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"""Safe call: auto-retry, cost tracking, finish check."""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" y="2025197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for attempt in range(3):  # retry up to 3 times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" y="2242268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try: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" y="2459338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response = client.chat.completions.create(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" y="2676409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model='gpt-4o-mini',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" y="2893480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messages=[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" y="3110550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    {'role':'system','content':system},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" y="3327621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    {'role':'user',  'content':prompt}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" y="3544691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],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" y="3761762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temperature=temperature,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</a:t>
            </a:r>
            <a:r>
              <a:rPr lang="en-US" sz="1100" dirty="0" err="1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max_tokens</a:t>
            </a: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=max_tokens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" y="3978833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" y="4195903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text   = response.choices[0].message.content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" y="4412974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finish = response.choices[0].finish_reason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" y="4630045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cost   = response.usage.total_tokens * 0.0000002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" y="4847115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if finish == 'length':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" y="5064186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    print('⚠️  Truncated! Increase max_tokens.')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" y="5281256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return {'answer':text,'cost':cost,'finish':finish}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" y="5498327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except AuthenticationError: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" y="5715398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print('❌ Bad API key!'); return None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" y="5932468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except RateLimitError: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4632" y="6149539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    time.sleep(2**attempt)  # 1s, 2s, 4s backoff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" y="6366609"/>
            <a:ext cx="623620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return None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040880" y="1207008"/>
            <a:ext cx="4828032" cy="984927"/>
          </a:xfrm>
          <a:prstGeom prst="rect">
            <a:avLst/>
          </a:prstGeom>
          <a:solidFill>
            <a:srgbClr val="17305A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040880" y="1207008"/>
            <a:ext cx="530352" cy="98492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40880" y="1207008"/>
            <a:ext cx="530352" cy="98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🔄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635240" y="1371600"/>
            <a:ext cx="4096512" cy="30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Retry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35240" y="1801368"/>
            <a:ext cx="4096512" cy="40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Tries 3 times if API rate-limited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040880" y="2322158"/>
            <a:ext cx="4800600" cy="984372"/>
          </a:xfrm>
          <a:prstGeom prst="rect">
            <a:avLst/>
          </a:prstGeom>
          <a:solidFill>
            <a:srgbClr val="17305A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040880" y="2322158"/>
            <a:ext cx="527339" cy="9843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40880" y="2322158"/>
            <a:ext cx="527339" cy="98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⚠️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635240" y="2486750"/>
            <a:ext cx="4073236" cy="306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Truncation Check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635240" y="2916518"/>
            <a:ext cx="4073236" cy="408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Detects finish_reason='length'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040880" y="3461982"/>
            <a:ext cx="4800600" cy="984372"/>
          </a:xfrm>
          <a:prstGeom prst="rect">
            <a:avLst/>
          </a:prstGeom>
          <a:solidFill>
            <a:srgbClr val="17305A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040880" y="3461982"/>
            <a:ext cx="527339" cy="9843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040880" y="3461982"/>
            <a:ext cx="527339" cy="98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35240" y="3626574"/>
            <a:ext cx="4073236" cy="306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Tracking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635240" y="4056342"/>
            <a:ext cx="4073236" cy="408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 estimated cost per call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068312" y="4621869"/>
            <a:ext cx="4800600" cy="665524"/>
          </a:xfrm>
          <a:prstGeom prst="rect">
            <a:avLst/>
          </a:prstGeom>
          <a:solidFill>
            <a:srgbClr val="17305A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068312" y="4610946"/>
            <a:ext cx="527339" cy="6655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068312" y="4610946"/>
            <a:ext cx="527339" cy="665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🛡️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662672" y="4775538"/>
            <a:ext cx="4073236" cy="20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Handling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80721" y="5724144"/>
            <a:ext cx="4096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 errors &amp; rate limits handled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065031" y="5548362"/>
            <a:ext cx="4828033" cy="1246199"/>
          </a:xfrm>
          <a:prstGeom prst="rect">
            <a:avLst/>
          </a:prstGeom>
          <a:solidFill>
            <a:srgbClr val="052E16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148816" y="5703815"/>
            <a:ext cx="4449496" cy="547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 = ask('What is Python?')
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print(r['answer'])  # That's it!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11704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⚡  Streaming — Text Appears Word by Word, Like ChatGPT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4406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5440680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115568"/>
            <a:ext cx="5221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  Without  stream=True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5221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sees nothing for 3–8 seconds then all text appears at once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" y="2194560"/>
            <a:ext cx="5294376" cy="2103120"/>
          </a:xfrm>
          <a:prstGeom prst="rect">
            <a:avLst/>
          </a:prstGeom>
          <a:solidFill>
            <a:srgbClr val="0D1B2A"/>
          </a:solidFill>
          <a:ln w="1524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2064" y="2304288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response = client.chat.completions.create(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2064" y="2575995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model='gpt-4o-mini', messages=[...],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" y="2847703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max_tokens=200  # No stream=True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" y="3119410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" y="3391118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# ⏱  Waiting 3–8 seconds...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064" y="3662825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text = response.choices[0].message.content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2064" y="3934533"/>
            <a:ext cx="5020056" cy="2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print(text)  # All at once after the wait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" y="4370832"/>
            <a:ext cx="5221224" cy="117043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4425696"/>
            <a:ext cx="5029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experience: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Blank screen for several seconds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Sudden text dump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Feels broken and unresponsive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4048" y="5623560"/>
            <a:ext cx="5221224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5669280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⏱  Time to first word:  3–8 seconds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1115568"/>
            <a:ext cx="5897880" cy="5577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6035040" y="1115568"/>
            <a:ext cx="58978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44768" y="1115568"/>
            <a:ext cx="5678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With  stream=True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44768" y="1737360"/>
            <a:ext cx="5678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word appears in under half a second!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08192" y="2194560"/>
            <a:ext cx="5751576" cy="2395728"/>
          </a:xfrm>
          <a:prstGeom prst="rect">
            <a:avLst/>
          </a:prstGeom>
          <a:solidFill>
            <a:srgbClr val="0D1B2A"/>
          </a:solidFill>
          <a:ln w="1524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72784" y="230428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stream = client.chat.completions.create(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72784" y="254812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model='gpt-4o-mini', messages=[...],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72784" y="279196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max_tokens=200,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03580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stream=True   # ← This ONE change!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72784" y="327964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72784" y="352348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for chunk in stream:   # Each = new token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72784" y="376732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token = chunk.choices[0].delta.content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72784" y="401116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if token: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72784" y="4255008"/>
            <a:ext cx="54772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        print(token, end='', flush=True)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44768" y="4681728"/>
            <a:ext cx="5751576" cy="1042416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63640" y="4754880"/>
            <a:ext cx="5541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.delta.content  </a:t>
            </a: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 Use .delta (not .message) — streaming mode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63640" y="5175504"/>
            <a:ext cx="5541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end='', flush=True  </a:t>
            </a: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 Shows each word immediately — no buffering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44768" y="5779008"/>
            <a:ext cx="5751576" cy="658368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63640" y="5779008"/>
            <a:ext cx="5559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⏱  Time to first word:  &lt; 0.5 seconds  🚀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02336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 Mini Project: Build an AI Q&amp;A Bot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1548872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⭐  KEY LESSON:  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code structure is IDENTICAL in all 4 versions.  </a:t>
            </a:r>
            <a:r>
              <a:rPr lang="en-US" sz="17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PROMPT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what makes each bot completely different.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2761488" cy="4645152"/>
          </a:xfrm>
          <a:prstGeom prst="rect">
            <a:avLst/>
          </a:prstGeom>
          <a:solidFill>
            <a:srgbClr val="17305A"/>
          </a:solidFill>
          <a:ln w="2540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276148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208483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📗  Basic Bot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" y="2724912"/>
            <a:ext cx="457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9768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helpful assistant.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question → plain answer.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056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=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48056" y="36576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91B2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"You are a helpful assistant."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8056" y="42428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0.7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8056" y="4626864"/>
            <a:ext cx="2468880" cy="987552"/>
          </a:xfrm>
          <a:prstGeom prst="rect">
            <a:avLst/>
          </a:prstGeom>
          <a:solidFill>
            <a:srgbClr val="0D1B2A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change:
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starting point for all bots.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64408" y="2084832"/>
            <a:ext cx="2761488" cy="4645152"/>
          </a:xfrm>
          <a:prstGeom prst="rect">
            <a:avLst/>
          </a:prstGeom>
          <a:solidFill>
            <a:srgbClr val="17305A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64408" y="2084832"/>
            <a:ext cx="276148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74136" y="208483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🤣  Funny Bot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74136" y="2724912"/>
            <a:ext cx="457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7413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904488" y="27249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Comedy! Puns, jokes and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[EXPLOSION] sound effects!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92424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=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392424" y="36576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47288" y="36758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comedy character prompt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92424" y="42428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1.0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92424" y="4626864"/>
            <a:ext cx="2468880" cy="987552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447288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change:
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Only: system prompt + temp=1.0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08776" y="2084832"/>
            <a:ext cx="2761488" cy="4645152"/>
          </a:xfrm>
          <a:prstGeom prst="rect">
            <a:avLst/>
          </a:prstGeom>
          <a:solidFill>
            <a:srgbClr val="17305A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08776" y="2084832"/>
            <a:ext cx="276148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18504" y="208483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👔  Professional Bot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18504" y="2724912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1850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848856" y="27249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consultant tone.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technical language.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36792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=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36792" y="36576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91656" y="36758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senior consultant prompt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36792" y="42428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0.3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36792" y="4626864"/>
            <a:ext cx="2468880" cy="987552"/>
          </a:xfrm>
          <a:prstGeom prst="rect">
            <a:avLst/>
          </a:prstGeom>
          <a:solidFill>
            <a:srgbClr val="0D1B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91656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change:
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Only: system prompt + temp=0.3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153144" y="2084832"/>
            <a:ext cx="2761488" cy="4645152"/>
          </a:xfrm>
          <a:prstGeom prst="rect">
            <a:avLst/>
          </a:prstGeom>
          <a:solidFill>
            <a:srgbClr val="17305A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153144" y="2084832"/>
            <a:ext cx="276148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262872" y="208483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 Memory Bot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262872" y="2724912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26287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793224" y="27249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Remembers full conversation.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Builds context over time.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281160" y="3364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=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281160" y="36576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336024" y="36758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any personality + history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281160" y="42428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0.7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81160" y="4626864"/>
            <a:ext cx="2468880" cy="987552"/>
          </a:xfrm>
          <a:prstGeom prst="rect">
            <a:avLst/>
          </a:prstGeom>
          <a:solidFill>
            <a:srgbClr val="0D1B2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336024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change:
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self.history list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11521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Question.  Same Code.  Completely Different Personality.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46120" y="1207008"/>
            <a:ext cx="57150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37560" y="1207008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  "What is an API?"  →  sent to all three bots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92608" y="1792224"/>
            <a:ext cx="3749040" cy="4974336"/>
          </a:xfrm>
          <a:prstGeom prst="rect">
            <a:avLst/>
          </a:prstGeom>
          <a:solidFill>
            <a:srgbClr val="17305A"/>
          </a:solidFill>
          <a:ln w="2286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92608" y="1792224"/>
            <a:ext cx="374904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📗 Basic Bot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608" y="2331720"/>
            <a:ext cx="374904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048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system prompt: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" y="2624328"/>
            <a:ext cx="3749040" cy="1143000"/>
          </a:xfrm>
          <a:prstGeom prst="rect">
            <a:avLst/>
          </a:prstGeom>
          <a:solidFill>
            <a:srgbClr val="0D1B2A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" y="2651760"/>
            <a:ext cx="3547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"You are a helpful assistant."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2336" y="38039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0.7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2608" y="4169664"/>
            <a:ext cx="3749040" cy="329184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84048" y="4169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Response: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92608" y="4517136"/>
            <a:ext cx="3749040" cy="2176272"/>
          </a:xfrm>
          <a:prstGeom prst="rect">
            <a:avLst/>
          </a:prstGeom>
          <a:solidFill>
            <a:srgbClr val="112244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0624" y="4572000"/>
            <a:ext cx="35112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API (Application Programming Interface) is a set of rules allowing different software applications to communicate and exchange data with each other.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70248" y="1792224"/>
            <a:ext cx="3749040" cy="4974336"/>
          </a:xfrm>
          <a:prstGeom prst="rect">
            <a:avLst/>
          </a:prstGeom>
          <a:solidFill>
            <a:srgbClr val="17305A"/>
          </a:solidFill>
          <a:ln w="2286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70248" y="1792224"/>
            <a:ext cx="37490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61688" y="1792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🤣 Funny Bot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70248" y="2331720"/>
            <a:ext cx="374904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61688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system prompt: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0248" y="2624328"/>
            <a:ext cx="3749040" cy="1143000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79976" y="2651760"/>
            <a:ext cx="3547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"You are a comedy assistant.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Use puns. Add [EXPLOSION].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End with a terrible tech pun."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79976" y="38039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1.0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270248" y="4169664"/>
            <a:ext cx="3749040" cy="329184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61688" y="4169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Response: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270248" y="4517136"/>
            <a:ext cx="3749040" cy="2176272"/>
          </a:xfrm>
          <a:prstGeom prst="rect">
            <a:avLst/>
          </a:prstGeom>
          <a:solidFill>
            <a:srgbClr val="112244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398264" y="4572000"/>
            <a:ext cx="35112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[DRAMATIC MUSIC] Oh, APIs! Imagine two computers going on a blind date! The matchmaker of the tech world! You could say APIs are really 'interface'-ing well! [EXPLOSION]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47888" y="1792224"/>
            <a:ext cx="3749040" cy="4974336"/>
          </a:xfrm>
          <a:prstGeom prst="rect">
            <a:avLst/>
          </a:prstGeom>
          <a:solidFill>
            <a:srgbClr val="17305A"/>
          </a:solidFill>
          <a:ln w="2286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47888" y="1792224"/>
            <a:ext cx="37490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39328" y="1792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👔 Professional Bot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47888" y="2331720"/>
            <a:ext cx="374904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339328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system prompt: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8247888" y="2624328"/>
            <a:ext cx="3749040" cy="1143000"/>
          </a:xfrm>
          <a:prstGeom prst="rect">
            <a:avLst/>
          </a:prstGeom>
          <a:solidFill>
            <a:srgbClr val="0D1B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57616" y="2651760"/>
            <a:ext cx="3547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"You are a senior consultant.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Use formal technical terminology.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Never use humour."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357616" y="3803904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temperature = 0.3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247888" y="4169664"/>
            <a:ext cx="3749040" cy="329184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39328" y="41696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Response: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247888" y="4517136"/>
            <a:ext cx="3749040" cy="2176272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375904" y="4572000"/>
            <a:ext cx="35112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Application Programming Interface (API) constitutes a formalised communication contract between software components, defining interaction protocols in contemporary microservices architecture.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39" y="402336"/>
            <a:ext cx="116809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 Enhancement 3: Memory Bot — How ChatGPT Really Works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5257800" cy="1005840"/>
          </a:xfrm>
          <a:prstGeom prst="rect">
            <a:avLst/>
          </a:prstGeom>
          <a:solidFill>
            <a:srgbClr val="17305A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86868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26187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2336" y="171907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Hi! My name is Priya and I study CS at DigiPen.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0" cy="16459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2450592"/>
            <a:ext cx="5257800" cy="1005840"/>
          </a:xfrm>
          <a:prstGeom prst="rect">
            <a:avLst/>
          </a:prstGeom>
          <a:solidFill>
            <a:srgbClr val="17305A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822960" y="2450592"/>
            <a:ext cx="86868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0976" y="290779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 Priya! CS at DigiPen is a great choice. How can I help you today?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0" y="3474720"/>
            <a:ext cx="0" cy="16459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5257800" cy="1005840"/>
          </a:xfrm>
          <a:prstGeom prst="rect">
            <a:avLst/>
          </a:prstGeom>
          <a:solidFill>
            <a:srgbClr val="17305A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86868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3639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" y="409651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degree am I studying?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0" y="4663440"/>
            <a:ext cx="0" cy="16459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828032"/>
            <a:ext cx="5257800" cy="1005840"/>
          </a:xfrm>
          <a:prstGeom prst="rect">
            <a:avLst/>
          </a:prstGeom>
          <a:solidFill>
            <a:srgbClr val="17305A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822960" y="4828032"/>
            <a:ext cx="86868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8280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528523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You're studying Computer Science at DigiPen, Priya!  ← MEMORY WORKS!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51827" y="1261871"/>
            <a:ext cx="5769864" cy="5563315"/>
          </a:xfrm>
          <a:prstGeom prst="rect">
            <a:avLst/>
          </a:prstGeom>
          <a:solidFill>
            <a:srgbClr val="0D1B2A"/>
          </a:solidFill>
          <a:ln w="15240">
            <a:solidFill>
              <a:srgbClr val="0891B2"/>
            </a:solidFill>
            <a:prstDash val="solid"/>
          </a:ln>
          <a:effectLst>
            <a:outerShdw blurRad="1524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6251827" y="1261872"/>
            <a:ext cx="5769864" cy="33104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6379843" y="1261872"/>
            <a:ext cx="5590397" cy="33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module6_qabot.ipynb  →  In [4]:  MemoryBot class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6419" y="1645920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MemoryBot: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6419" y="1865774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personality='helpful'):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6419" y="2085627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self.system  = personalities[personality]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6419" y="2305481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 = []   # This IS the memory!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6419" y="2525334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6419" y="2745188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ask(self, question):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16419" y="2965041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1: Add question to history FIRST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16419" y="3184895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self.history.append(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16419" y="3404749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{'role':'user','content':question}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16419" y="3624602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16419" y="3844456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16419" y="4064309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2: Send FULL history every call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16419" y="4284163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 = [system] + self.history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16419" y="4504016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 = client.chat.completions.create(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16419" y="4723870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model='gpt-4o-mini', messages=messages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16419" y="4943723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16419" y="5163577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answer = response.choices[0].message.content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16419" y="5383431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16419" y="5603284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Step 3: Add reply to history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16419" y="5823138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self.history.append(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16419" y="6042991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{'role':'assistant','content':answer}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16419" y="6262845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16419" y="6482698"/>
            <a:ext cx="5500664" cy="221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answer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🔧  Common Errors &amp; How to Fix Them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5669280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6692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AuthenticationError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5449824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" y="1664208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openai.AuthenticationError</a:t>
            </a:r>
            <a:r>
              <a:rPr lang="en-US" sz="1000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Incorrect API key</a:t>
            </a:r>
          </a:p>
        </p:txBody>
      </p:sp>
      <p:sp>
        <p:nvSpPr>
          <p:cNvPr id="11" name="Text 9"/>
          <p:cNvSpPr/>
          <p:nvPr/>
        </p:nvSpPr>
        <p:spPr>
          <a:xfrm>
            <a:off x="384048" y="2002536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Your API key is wrong or missing. Check your .env file exists and you called </a:t>
            </a:r>
            <a:r>
              <a:rPr lang="en-US" sz="120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load_dotenv</a:t>
            </a: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 before OpenAI().</a:t>
            </a:r>
          </a:p>
        </p:txBody>
      </p:sp>
      <p:sp>
        <p:nvSpPr>
          <p:cNvPr id="12" name="Shape 10"/>
          <p:cNvSpPr/>
          <p:nvPr/>
        </p:nvSpPr>
        <p:spPr>
          <a:xfrm>
            <a:off x="6245352" y="1115568"/>
            <a:ext cx="5669280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45352" y="1115568"/>
            <a:ext cx="56692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55080" y="111556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finish_reason = 'length'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55080" y="1664208"/>
            <a:ext cx="5449824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9944" y="1664208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Silent bug — no error message!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73368" y="2002536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Response was cut off silently! Increase </a:t>
            </a:r>
            <a:r>
              <a:rPr lang="en-US" sz="120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max_tokens</a:t>
            </a: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from 100 to 1000+. No error is raised — you must check </a:t>
            </a:r>
            <a:r>
              <a:rPr lang="en-US" sz="120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finish_reason</a:t>
            </a: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yourself.</a:t>
            </a:r>
          </a:p>
        </p:txBody>
      </p:sp>
      <p:sp>
        <p:nvSpPr>
          <p:cNvPr id="18" name="Shape 16"/>
          <p:cNvSpPr/>
          <p:nvPr/>
        </p:nvSpPr>
        <p:spPr>
          <a:xfrm>
            <a:off x="256032" y="3040380"/>
            <a:ext cx="5669280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032" y="3017520"/>
            <a:ext cx="56692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RateLimitError  (429)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5449824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0624" y="3566160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openai.RateLimitError</a:t>
            </a:r>
            <a:r>
              <a:rPr lang="en-US" sz="1000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Rate limit reached</a:t>
            </a:r>
          </a:p>
        </p:txBody>
      </p:sp>
      <p:sp>
        <p:nvSpPr>
          <p:cNvPr id="23" name="Text 21"/>
          <p:cNvSpPr/>
          <p:nvPr/>
        </p:nvSpPr>
        <p:spPr>
          <a:xfrm>
            <a:off x="384048" y="3904488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Too many calls per minute. Wait 30 seconds and try again. Or use the retry loop in the ask() function.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45352" y="3017520"/>
            <a:ext cx="5669280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45352" y="3017520"/>
            <a:ext cx="56692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080" y="30175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APIConnectionError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355080" y="3566160"/>
            <a:ext cx="5449824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9944" y="3566160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SG" sz="1000" dirty="0" err="1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openai.APIConnectionError</a:t>
            </a:r>
            <a:r>
              <a:rPr lang="en-SG" sz="1000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Connection error</a:t>
            </a:r>
            <a:endParaRPr lang="en-US" sz="1000" dirty="0">
              <a:solidFill>
                <a:srgbClr val="EF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73368" y="3904488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Cannot reach OpenAI servers. Check your internet connection and confirm api.openai.com is not blocked by a firewall or proxy.</a:t>
            </a:r>
          </a:p>
        </p:txBody>
      </p:sp>
      <p:sp>
        <p:nvSpPr>
          <p:cNvPr id="30" name="Shape 28"/>
          <p:cNvSpPr/>
          <p:nvPr/>
        </p:nvSpPr>
        <p:spPr>
          <a:xfrm>
            <a:off x="256032" y="4919472"/>
            <a:ext cx="5669280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6032" y="4919472"/>
            <a:ext cx="56692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ModuleNotFoundError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" y="5468112"/>
            <a:ext cx="5449824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20624" y="5468112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pip install openai python-dotenv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4048" y="5806440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 Run pip install openai anthropic python-dotenv  in your virtual environment. Make sure (venv) is showing in terminal.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45352" y="4919472"/>
            <a:ext cx="5669280" cy="178308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45352" y="4919472"/>
            <a:ext cx="56692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55080" y="4919472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🚨  </a:t>
            </a:r>
            <a:r>
              <a:rPr lang="en-SG" sz="135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InsufficientQuotaError</a:t>
            </a:r>
            <a:endParaRPr lang="en-US" sz="135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55080" y="5468112"/>
            <a:ext cx="5449824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9944" y="5468112"/>
            <a:ext cx="5340096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n-SG" sz="1000" dirty="0" err="1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openai.InsufficientQuotaError</a:t>
            </a:r>
            <a:r>
              <a:rPr lang="en-SG" sz="1000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Quota exceeded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73368" y="5806440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✅ Your free credits are used up or billing isn't set up. Add a payment method at platform.openai.com/account/billing and check your usage limits.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11521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🎯  Quick Knowledge Check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5669280" cy="1444752"/>
          </a:xfrm>
          <a:prstGeom prst="rect">
            <a:avLst/>
          </a:prstGeom>
          <a:solidFill>
            <a:srgbClr val="17305A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810512"/>
            <a:ext cx="457200" cy="14447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457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0392" y="19019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API stand for? Explain each word.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0392" y="2505456"/>
            <a:ext cx="5029200" cy="640080"/>
          </a:xfrm>
          <a:prstGeom prst="rect">
            <a:avLst/>
          </a:prstGeom>
          <a:solidFill>
            <a:srgbClr val="0D1B2A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3544" y="254203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Application (any software) · Programming (via code) · Interface (a menu of what you can ask for)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810512"/>
            <a:ext cx="5669280" cy="1444752"/>
          </a:xfrm>
          <a:prstGeom prst="rect">
            <a:avLst/>
          </a:prstGeom>
          <a:solidFill>
            <a:srgbClr val="17305A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810512"/>
            <a:ext cx="457200" cy="1444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9360" y="1810512"/>
            <a:ext cx="457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39712" y="19019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json.dumps() for? What is json.loads() for?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39712" y="2505456"/>
            <a:ext cx="5029200" cy="640080"/>
          </a:xfrm>
          <a:prstGeom prst="rect">
            <a:avLst/>
          </a:prstGeom>
          <a:solidFill>
            <a:srgbClr val="0D1B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12864" y="2542032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dumps = Python dict → JSON string (sending).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loads = JSON string → Python dict (receiving)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5669280" cy="1444752"/>
          </a:xfrm>
          <a:prstGeom prst="rect">
            <a:avLst/>
          </a:prstGeom>
          <a:solidFill>
            <a:srgbClr val="17305A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383280"/>
            <a:ext cx="457200" cy="1444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383280"/>
            <a:ext cx="457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0392" y="34747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many tokens is 'ChatGPT'? How many is 'supercalifragilistic'?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50392" y="4078224"/>
            <a:ext cx="5029200" cy="640080"/>
          </a:xfrm>
          <a:prstGeom prst="rect">
            <a:avLst/>
          </a:prstGeom>
          <a:solidFill>
            <a:srgbClr val="0D1B2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3544" y="411480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ChatGPT = 3 tokens ('Chat'+'G'+'PT'). supercalifragilistic = 5 tokens.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3383280"/>
            <a:ext cx="5669280" cy="1444752"/>
          </a:xfrm>
          <a:prstGeom prst="rect">
            <a:avLst/>
          </a:prstGeom>
          <a:solidFill>
            <a:srgbClr val="17305A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09360" y="3383280"/>
            <a:ext cx="457200" cy="1444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457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39712" y="34747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ask the AI your name and it says it does not know. Why?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839712" y="4078224"/>
            <a:ext cx="5029200" cy="640080"/>
          </a:xfrm>
          <a:prstGeom prst="rect">
            <a:avLst/>
          </a:prstGeom>
          <a:solidFill>
            <a:srgbClr val="0D1B2A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12864" y="4114800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LLMs are STATELESS. No memory between calls. You must include past messages in the array.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956048"/>
            <a:ext cx="5669280" cy="1444752"/>
          </a:xfrm>
          <a:prstGeom prst="rect">
            <a:avLst/>
          </a:prstGeom>
          <a:solidFill>
            <a:srgbClr val="17305A"/>
          </a:solidFill>
          <a:ln w="1905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4956048"/>
            <a:ext cx="457200" cy="1444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0040" y="4956048"/>
            <a:ext cx="457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0392" y="50474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a maths checker use temperature 0.0 or 1.5? Why?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0392" y="5650992"/>
            <a:ext cx="5029200" cy="640080"/>
          </a:xfrm>
          <a:prstGeom prst="rect">
            <a:avLst/>
          </a:prstGeom>
          <a:solidFill>
            <a:srgbClr val="0D1B2A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23544" y="5687568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0.0 — you need the same correct answer every time. 1.5 would give random results.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09360" y="4956048"/>
            <a:ext cx="5669280" cy="1444752"/>
          </a:xfrm>
          <a:prstGeom prst="rect">
            <a:avLst/>
          </a:prstGeom>
          <a:solidFill>
            <a:srgbClr val="17305A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309360" y="4956048"/>
            <a:ext cx="457200" cy="1444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09360" y="4956048"/>
            <a:ext cx="457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39712" y="50474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finish_reason='length' mean?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839712" y="5650992"/>
            <a:ext cx="5029200" cy="640080"/>
          </a:xfrm>
          <a:prstGeom prst="rect">
            <a:avLst/>
          </a:prstGeom>
          <a:solidFill>
            <a:srgbClr val="0D1B2A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912864" y="5687568"/>
            <a:ext cx="4919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The response was SILENTLY CUT OFF. No error raised. Must always check this yourself!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🧪  Afternoon Lab — 4 Exercises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5669280" cy="2651760"/>
          </a:xfrm>
          <a:prstGeom prst="rect">
            <a:avLst/>
          </a:prstGeom>
          <a:solidFill>
            <a:srgbClr val="FFFFFF"/>
          </a:solidFill>
          <a:ln w="2286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66928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1  ·  lab1_connect.ipynb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7556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 Connect &amp; Explore APIs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22128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to OpenAI, make first real API calls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26700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Investigate finish_reason — the silent bug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31272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 experiment: 0.0 vs 1.5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" y="1737360"/>
            <a:ext cx="524865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" y="1737360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&amp; Explore APIs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45352" y="1115568"/>
            <a:ext cx="5669280" cy="2651760"/>
          </a:xfrm>
          <a:prstGeom prst="rect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45352" y="1115568"/>
            <a:ext cx="56692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55080" y="11155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2  ·  lab2_bots.ipynb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28232" y="17556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 Build Personality Bots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28232" y="22128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the reusable chat() base function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28232" y="26700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Singapore Tour Guide bot in Singlish!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8232" y="312724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 Yes/No bot + your own custom bot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64808" y="1737360"/>
            <a:ext cx="524865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64808" y="1737360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Personality Bots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56032" y="3904488"/>
            <a:ext cx="5669280" cy="2651760"/>
          </a:xfrm>
          <a:prstGeom prst="rect">
            <a:avLst/>
          </a:prstGeom>
          <a:solidFill>
            <a:srgbClr val="FFFFFF"/>
          </a:solidFill>
          <a:ln w="2286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6032" y="3904488"/>
            <a:ext cx="56692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39044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3  ·  lab3_memory.ipynb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8912" y="45445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 Memory &amp; Conversation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912" y="50017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Prove the statelessness problem live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8912" y="54589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chat_with_memory() function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38912" y="59161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the full MemoryBot class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" y="4526280"/>
            <a:ext cx="524865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5488" y="4526280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&amp; Conversation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45352" y="3904488"/>
            <a:ext cx="5669280" cy="2651760"/>
          </a:xfrm>
          <a:prstGeom prst="rect">
            <a:avLst/>
          </a:prstGeom>
          <a:solidFill>
            <a:srgbClr val="FFFFFF"/>
          </a:solidFill>
          <a:ln w="2286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45352" y="3904488"/>
            <a:ext cx="566928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55080" y="39044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4  ·  lab4_myapp.ipynb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28232" y="45445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📌  Build Your Own AI App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28232" y="50017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Choose: NUS Advisor / Food Bot / Code Explainer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28232" y="54589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your system prompt with 5+ rules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28232" y="591616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Build, test 5 questions, and reflect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64808" y="4526280"/>
            <a:ext cx="5248656" cy="40233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64808" y="4526280"/>
            <a:ext cx="5248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Your Own AI App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005840"/>
          </a:xfrm>
          <a:prstGeom prst="rect">
            <a:avLst/>
          </a:prstGeom>
          <a:solidFill>
            <a:srgbClr val="0B1D35"/>
          </a:solidFill>
          <a:ln w="12700">
            <a:solidFill>
              <a:srgbClr val="0B1D35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🎯  Day 3 Summary — What You Learned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5669280" cy="1792224"/>
          </a:xfrm>
          <a:prstGeom prst="rect">
            <a:avLst/>
          </a:prstGeom>
          <a:solidFill>
            <a:srgbClr val="17305A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56692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📡  APIs &amp; JSON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= software talking to software via a defined menu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2002536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json.dumps() → send to API  ·  json.loads() → receive from API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240487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hallucinate — always verify important facts!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45352" y="1078992"/>
            <a:ext cx="5669280" cy="1792224"/>
          </a:xfrm>
          <a:prstGeom prst="rect">
            <a:avLst/>
          </a:prstGeom>
          <a:solidFill>
            <a:srgbClr val="17305A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45352" y="1078992"/>
            <a:ext cx="56692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55080" y="10789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🧠  Tokens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28232" y="160020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 ≈ 0.75 words. hello=1, ChatGPT=2, NUS=1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28232" y="2002536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cost, speed, and limits are measured in tokens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8232" y="240487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LLMs are STATELESS — messages array IS the only memory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6032" y="2999232"/>
            <a:ext cx="5669280" cy="1792224"/>
          </a:xfrm>
          <a:prstGeom prst="rect">
            <a:avLst/>
          </a:prstGeom>
          <a:solidFill>
            <a:srgbClr val="17305A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56692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2999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🔑  Free Keys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8912" y="35204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platform.openai.com  ·  aistudio.google.com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" y="3922776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OpenAI: set $5 hard limit  ·  Gemini: free!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8912" y="432511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 hardcode. Use .env + load_dotenv() always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45352" y="2999232"/>
            <a:ext cx="5669280" cy="1792224"/>
          </a:xfrm>
          <a:prstGeom prst="rect">
            <a:avLst/>
          </a:prstGeom>
          <a:solidFill>
            <a:srgbClr val="17305A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45352" y="2999232"/>
            <a:ext cx="56692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55080" y="2999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🔌  First API Call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28232" y="352044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response.choices[0].message.content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3922776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finish_reason — 'length' = silent cut-off!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28232" y="432511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Gemini: response.text  ·  model.generate_content(...)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6032" y="4919472"/>
            <a:ext cx="5669280" cy="1792224"/>
          </a:xfrm>
          <a:prstGeom prst="rect">
            <a:avLst/>
          </a:prstGeom>
          <a:solidFill>
            <a:srgbClr val="17305A"/>
          </a:solidFill>
          <a:ln w="1905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" y="4919472"/>
            <a:ext cx="566928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4919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💻  Full Example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38912" y="544068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ask() handles retry, cost tracking, truncation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38912" y="5843016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stream=True → text appears word by word instantly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38912" y="624535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pattern — reuse in all your future AI projects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45352" y="4919472"/>
            <a:ext cx="5669280" cy="1792224"/>
          </a:xfrm>
          <a:prstGeom prst="rect">
            <a:avLst/>
          </a:prstGeom>
          <a:solidFill>
            <a:srgbClr val="17305A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45352" y="4919472"/>
            <a:ext cx="56692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S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55080" y="4919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 Mini Project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28232" y="544068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code + different system prompt = different bot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28232" y="5843016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→ Funny → Professional → Memory bot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28232" y="6245352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this pattern, build unlimited AI applications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516</TotalTime>
  <Words>5580</Words>
  <Application>Microsoft Office PowerPoint</Application>
  <PresentationFormat>Widescreen</PresentationFormat>
  <Paragraphs>733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Arabic Typesetting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GES2026 Day 3 – AI APIs</dc:title>
  <dc:subject>PptxGenJS Presentation</dc:subject>
  <dc:creator>PptxGenJS</dc:creator>
  <cp:lastModifiedBy>Priyanka Bhoyar</cp:lastModifiedBy>
  <cp:revision>37</cp:revision>
  <dcterms:created xsi:type="dcterms:W3CDTF">2026-05-03T06:42:22Z</dcterms:created>
  <dcterms:modified xsi:type="dcterms:W3CDTF">2026-05-07T13:08:15Z</dcterms:modified>
</cp:coreProperties>
</file>